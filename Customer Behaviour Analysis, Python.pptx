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74" r:id="rId3"/>
    <p:sldId id="258" r:id="rId4"/>
    <p:sldId id="259" r:id="rId5"/>
    <p:sldId id="260" r:id="rId6"/>
    <p:sldId id="261" r:id="rId7"/>
    <p:sldId id="262" r:id="rId8"/>
    <p:sldId id="263" r:id="rId9"/>
    <p:sldId id="264" r:id="rId10"/>
    <p:sldId id="265" r:id="rId11"/>
    <p:sldId id="271" r:id="rId12"/>
    <p:sldId id="266" r:id="rId13"/>
    <p:sldId id="272" r:id="rId14"/>
    <p:sldId id="273" r:id="rId15"/>
    <p:sldId id="267" r:id="rId16"/>
    <p:sldId id="268" r:id="rId17"/>
    <p:sldId id="269" r:id="rId18"/>
    <p:sldId id="270"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B57679-5C84-CE0F-E616-71296BDEB83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874361E9-7F76-C425-D0D6-A3E9C7CD449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95DCECDE-2AA7-851A-5C94-5840F14A8B31}"/>
              </a:ext>
            </a:extLst>
          </p:cNvPr>
          <p:cNvSpPr>
            <a:spLocks noGrp="1"/>
          </p:cNvSpPr>
          <p:nvPr>
            <p:ph type="dt" sz="half" idx="10"/>
          </p:nvPr>
        </p:nvSpPr>
        <p:spPr/>
        <p:txBody>
          <a:bodyPr/>
          <a:lstStyle/>
          <a:p>
            <a:fld id="{831AB708-349D-40BF-861F-28AE2E9BBF19}" type="datetimeFigureOut">
              <a:rPr lang="en-IN" smtClean="0"/>
              <a:t>09-02-2026</a:t>
            </a:fld>
            <a:endParaRPr lang="en-IN"/>
          </a:p>
        </p:txBody>
      </p:sp>
      <p:sp>
        <p:nvSpPr>
          <p:cNvPr id="5" name="Footer Placeholder 4">
            <a:extLst>
              <a:ext uri="{FF2B5EF4-FFF2-40B4-BE49-F238E27FC236}">
                <a16:creationId xmlns:a16="http://schemas.microsoft.com/office/drawing/2014/main" id="{8E4FCB3A-C69C-0AE2-506A-9845081C221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48CF953-0780-AF1F-9112-FB9038B4C529}"/>
              </a:ext>
            </a:extLst>
          </p:cNvPr>
          <p:cNvSpPr>
            <a:spLocks noGrp="1"/>
          </p:cNvSpPr>
          <p:nvPr>
            <p:ph type="sldNum" sz="quarter" idx="12"/>
          </p:nvPr>
        </p:nvSpPr>
        <p:spPr/>
        <p:txBody>
          <a:bodyPr/>
          <a:lstStyle/>
          <a:p>
            <a:fld id="{6B363922-730C-4DE8-9D4B-E77F28A2C45F}" type="slidenum">
              <a:rPr lang="en-IN" smtClean="0"/>
              <a:t>‹#›</a:t>
            </a:fld>
            <a:endParaRPr lang="en-IN"/>
          </a:p>
        </p:txBody>
      </p:sp>
    </p:spTree>
    <p:extLst>
      <p:ext uri="{BB962C8B-B14F-4D97-AF65-F5344CB8AC3E}">
        <p14:creationId xmlns:p14="http://schemas.microsoft.com/office/powerpoint/2010/main" val="26219823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9D2F9E-9DEE-D491-B46E-F40B9D43EA3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33DA7EA-94D1-6313-E885-966B5624990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9C58428-4E2E-D847-B2A2-5B93E609BC72}"/>
              </a:ext>
            </a:extLst>
          </p:cNvPr>
          <p:cNvSpPr>
            <a:spLocks noGrp="1"/>
          </p:cNvSpPr>
          <p:nvPr>
            <p:ph type="dt" sz="half" idx="10"/>
          </p:nvPr>
        </p:nvSpPr>
        <p:spPr/>
        <p:txBody>
          <a:bodyPr/>
          <a:lstStyle/>
          <a:p>
            <a:fld id="{831AB708-349D-40BF-861F-28AE2E9BBF19}" type="datetimeFigureOut">
              <a:rPr lang="en-IN" smtClean="0"/>
              <a:t>09-02-2026</a:t>
            </a:fld>
            <a:endParaRPr lang="en-IN"/>
          </a:p>
        </p:txBody>
      </p:sp>
      <p:sp>
        <p:nvSpPr>
          <p:cNvPr id="5" name="Footer Placeholder 4">
            <a:extLst>
              <a:ext uri="{FF2B5EF4-FFF2-40B4-BE49-F238E27FC236}">
                <a16:creationId xmlns:a16="http://schemas.microsoft.com/office/drawing/2014/main" id="{26C866D0-216F-9718-3A53-EA1617EFF4D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510A2F4-B327-E281-A4FE-A8C706F1A75D}"/>
              </a:ext>
            </a:extLst>
          </p:cNvPr>
          <p:cNvSpPr>
            <a:spLocks noGrp="1"/>
          </p:cNvSpPr>
          <p:nvPr>
            <p:ph type="sldNum" sz="quarter" idx="12"/>
          </p:nvPr>
        </p:nvSpPr>
        <p:spPr/>
        <p:txBody>
          <a:bodyPr/>
          <a:lstStyle/>
          <a:p>
            <a:fld id="{6B363922-730C-4DE8-9D4B-E77F28A2C45F}" type="slidenum">
              <a:rPr lang="en-IN" smtClean="0"/>
              <a:t>‹#›</a:t>
            </a:fld>
            <a:endParaRPr lang="en-IN"/>
          </a:p>
        </p:txBody>
      </p:sp>
    </p:spTree>
    <p:extLst>
      <p:ext uri="{BB962C8B-B14F-4D97-AF65-F5344CB8AC3E}">
        <p14:creationId xmlns:p14="http://schemas.microsoft.com/office/powerpoint/2010/main" val="1441357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5133E9-9286-E519-F007-9AE67C5CB6C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2F0B09D1-4BD4-566D-C887-40514C8EC46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3662B53-9864-6023-B7E2-66FA62ABD7CF}"/>
              </a:ext>
            </a:extLst>
          </p:cNvPr>
          <p:cNvSpPr>
            <a:spLocks noGrp="1"/>
          </p:cNvSpPr>
          <p:nvPr>
            <p:ph type="dt" sz="half" idx="10"/>
          </p:nvPr>
        </p:nvSpPr>
        <p:spPr/>
        <p:txBody>
          <a:bodyPr/>
          <a:lstStyle/>
          <a:p>
            <a:fld id="{831AB708-349D-40BF-861F-28AE2E9BBF19}" type="datetimeFigureOut">
              <a:rPr lang="en-IN" smtClean="0"/>
              <a:t>09-02-2026</a:t>
            </a:fld>
            <a:endParaRPr lang="en-IN"/>
          </a:p>
        </p:txBody>
      </p:sp>
      <p:sp>
        <p:nvSpPr>
          <p:cNvPr id="5" name="Footer Placeholder 4">
            <a:extLst>
              <a:ext uri="{FF2B5EF4-FFF2-40B4-BE49-F238E27FC236}">
                <a16:creationId xmlns:a16="http://schemas.microsoft.com/office/drawing/2014/main" id="{1D5234C7-B029-5637-2B8E-8D475398EB2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2CD0FB7-533D-41E6-7291-B8C245B965F7}"/>
              </a:ext>
            </a:extLst>
          </p:cNvPr>
          <p:cNvSpPr>
            <a:spLocks noGrp="1"/>
          </p:cNvSpPr>
          <p:nvPr>
            <p:ph type="sldNum" sz="quarter" idx="12"/>
          </p:nvPr>
        </p:nvSpPr>
        <p:spPr/>
        <p:txBody>
          <a:bodyPr/>
          <a:lstStyle/>
          <a:p>
            <a:fld id="{6B363922-730C-4DE8-9D4B-E77F28A2C45F}" type="slidenum">
              <a:rPr lang="en-IN" smtClean="0"/>
              <a:t>‹#›</a:t>
            </a:fld>
            <a:endParaRPr lang="en-IN"/>
          </a:p>
        </p:txBody>
      </p:sp>
    </p:spTree>
    <p:extLst>
      <p:ext uri="{BB962C8B-B14F-4D97-AF65-F5344CB8AC3E}">
        <p14:creationId xmlns:p14="http://schemas.microsoft.com/office/powerpoint/2010/main" val="21367629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F554DD-F85C-9A6C-D867-9E634B92FCD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10DD0BE-54D7-5FA6-9722-6D2033B9D4B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1FCFA943-333F-6F7C-D7E4-48A86844BBB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64363376-232B-F3B9-C731-732FFCC79B05}"/>
              </a:ext>
            </a:extLst>
          </p:cNvPr>
          <p:cNvSpPr>
            <a:spLocks noGrp="1"/>
          </p:cNvSpPr>
          <p:nvPr>
            <p:ph type="dt" sz="half" idx="10"/>
          </p:nvPr>
        </p:nvSpPr>
        <p:spPr/>
        <p:txBody>
          <a:bodyPr/>
          <a:lstStyle/>
          <a:p>
            <a:fld id="{831AB708-349D-40BF-861F-28AE2E9BBF19}" type="datetimeFigureOut">
              <a:rPr lang="en-IN" smtClean="0"/>
              <a:t>09-02-2026</a:t>
            </a:fld>
            <a:endParaRPr lang="en-IN"/>
          </a:p>
        </p:txBody>
      </p:sp>
      <p:sp>
        <p:nvSpPr>
          <p:cNvPr id="6" name="Footer Placeholder 5">
            <a:extLst>
              <a:ext uri="{FF2B5EF4-FFF2-40B4-BE49-F238E27FC236}">
                <a16:creationId xmlns:a16="http://schemas.microsoft.com/office/drawing/2014/main" id="{5079E952-B9CE-A8A3-90D1-AA726EED774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9F1034E-E273-AC27-455A-C66A75E6D237}"/>
              </a:ext>
            </a:extLst>
          </p:cNvPr>
          <p:cNvSpPr>
            <a:spLocks noGrp="1"/>
          </p:cNvSpPr>
          <p:nvPr>
            <p:ph type="sldNum" sz="quarter" idx="12"/>
          </p:nvPr>
        </p:nvSpPr>
        <p:spPr/>
        <p:txBody>
          <a:bodyPr/>
          <a:lstStyle/>
          <a:p>
            <a:fld id="{6B363922-730C-4DE8-9D4B-E77F28A2C45F}" type="slidenum">
              <a:rPr lang="en-IN" smtClean="0"/>
              <a:t>‹#›</a:t>
            </a:fld>
            <a:endParaRPr lang="en-IN"/>
          </a:p>
        </p:txBody>
      </p:sp>
    </p:spTree>
    <p:extLst>
      <p:ext uri="{BB962C8B-B14F-4D97-AF65-F5344CB8AC3E}">
        <p14:creationId xmlns:p14="http://schemas.microsoft.com/office/powerpoint/2010/main" val="39634779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225542-E41C-2293-066B-5556250A5052}"/>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280F600-D2B7-B248-EEED-9EAA86656C3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39A65AA-B834-AFED-52B6-14C340073C3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F47733B0-4FC9-F2F3-4A55-B802C30BFE0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23E9395-BB19-A39B-F720-DE1A400BAA8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5C003485-FCCD-94F3-01CD-68BB3100D637}"/>
              </a:ext>
            </a:extLst>
          </p:cNvPr>
          <p:cNvSpPr>
            <a:spLocks noGrp="1"/>
          </p:cNvSpPr>
          <p:nvPr>
            <p:ph type="dt" sz="half" idx="10"/>
          </p:nvPr>
        </p:nvSpPr>
        <p:spPr/>
        <p:txBody>
          <a:bodyPr/>
          <a:lstStyle/>
          <a:p>
            <a:fld id="{831AB708-349D-40BF-861F-28AE2E9BBF19}" type="datetimeFigureOut">
              <a:rPr lang="en-IN" smtClean="0"/>
              <a:t>09-02-2026</a:t>
            </a:fld>
            <a:endParaRPr lang="en-IN"/>
          </a:p>
        </p:txBody>
      </p:sp>
      <p:sp>
        <p:nvSpPr>
          <p:cNvPr id="8" name="Footer Placeholder 7">
            <a:extLst>
              <a:ext uri="{FF2B5EF4-FFF2-40B4-BE49-F238E27FC236}">
                <a16:creationId xmlns:a16="http://schemas.microsoft.com/office/drawing/2014/main" id="{6425F0AA-B4C8-D759-7DFF-5E3B4532E50E}"/>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38536215-0D09-4DCB-E9FB-AC8FE836011B}"/>
              </a:ext>
            </a:extLst>
          </p:cNvPr>
          <p:cNvSpPr>
            <a:spLocks noGrp="1"/>
          </p:cNvSpPr>
          <p:nvPr>
            <p:ph type="sldNum" sz="quarter" idx="12"/>
          </p:nvPr>
        </p:nvSpPr>
        <p:spPr/>
        <p:txBody>
          <a:bodyPr/>
          <a:lstStyle/>
          <a:p>
            <a:fld id="{6B363922-730C-4DE8-9D4B-E77F28A2C45F}" type="slidenum">
              <a:rPr lang="en-IN" smtClean="0"/>
              <a:t>‹#›</a:t>
            </a:fld>
            <a:endParaRPr lang="en-IN"/>
          </a:p>
        </p:txBody>
      </p:sp>
    </p:spTree>
    <p:extLst>
      <p:ext uri="{BB962C8B-B14F-4D97-AF65-F5344CB8AC3E}">
        <p14:creationId xmlns:p14="http://schemas.microsoft.com/office/powerpoint/2010/main" val="32588245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1A0233-0969-8C23-DBA5-1470BF795FFC}"/>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966D52E5-2307-0409-CC85-3DB3088314A9}"/>
              </a:ext>
            </a:extLst>
          </p:cNvPr>
          <p:cNvSpPr>
            <a:spLocks noGrp="1"/>
          </p:cNvSpPr>
          <p:nvPr>
            <p:ph type="dt" sz="half" idx="10"/>
          </p:nvPr>
        </p:nvSpPr>
        <p:spPr/>
        <p:txBody>
          <a:bodyPr/>
          <a:lstStyle/>
          <a:p>
            <a:fld id="{831AB708-349D-40BF-861F-28AE2E9BBF19}" type="datetimeFigureOut">
              <a:rPr lang="en-IN" smtClean="0"/>
              <a:t>09-02-2026</a:t>
            </a:fld>
            <a:endParaRPr lang="en-IN"/>
          </a:p>
        </p:txBody>
      </p:sp>
      <p:sp>
        <p:nvSpPr>
          <p:cNvPr id="4" name="Footer Placeholder 3">
            <a:extLst>
              <a:ext uri="{FF2B5EF4-FFF2-40B4-BE49-F238E27FC236}">
                <a16:creationId xmlns:a16="http://schemas.microsoft.com/office/drawing/2014/main" id="{5B9788F3-17DB-7FB2-E5BD-3EEE7B32053F}"/>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CAA95956-3745-2B7D-A099-C17E7A2AF5AE}"/>
              </a:ext>
            </a:extLst>
          </p:cNvPr>
          <p:cNvSpPr>
            <a:spLocks noGrp="1"/>
          </p:cNvSpPr>
          <p:nvPr>
            <p:ph type="sldNum" sz="quarter" idx="12"/>
          </p:nvPr>
        </p:nvSpPr>
        <p:spPr/>
        <p:txBody>
          <a:bodyPr/>
          <a:lstStyle/>
          <a:p>
            <a:fld id="{6B363922-730C-4DE8-9D4B-E77F28A2C45F}" type="slidenum">
              <a:rPr lang="en-IN" smtClean="0"/>
              <a:t>‹#›</a:t>
            </a:fld>
            <a:endParaRPr lang="en-IN"/>
          </a:p>
        </p:txBody>
      </p:sp>
    </p:spTree>
    <p:extLst>
      <p:ext uri="{BB962C8B-B14F-4D97-AF65-F5344CB8AC3E}">
        <p14:creationId xmlns:p14="http://schemas.microsoft.com/office/powerpoint/2010/main" val="36280950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FFC412F-4D19-BC1E-B0A5-ED1F4A81540F}"/>
              </a:ext>
            </a:extLst>
          </p:cNvPr>
          <p:cNvSpPr>
            <a:spLocks noGrp="1"/>
          </p:cNvSpPr>
          <p:nvPr>
            <p:ph type="dt" sz="half" idx="10"/>
          </p:nvPr>
        </p:nvSpPr>
        <p:spPr/>
        <p:txBody>
          <a:bodyPr/>
          <a:lstStyle/>
          <a:p>
            <a:fld id="{831AB708-349D-40BF-861F-28AE2E9BBF19}" type="datetimeFigureOut">
              <a:rPr lang="en-IN" smtClean="0"/>
              <a:t>09-02-2026</a:t>
            </a:fld>
            <a:endParaRPr lang="en-IN"/>
          </a:p>
        </p:txBody>
      </p:sp>
      <p:sp>
        <p:nvSpPr>
          <p:cNvPr id="3" name="Footer Placeholder 2">
            <a:extLst>
              <a:ext uri="{FF2B5EF4-FFF2-40B4-BE49-F238E27FC236}">
                <a16:creationId xmlns:a16="http://schemas.microsoft.com/office/drawing/2014/main" id="{66632205-018D-B1A4-D7F7-20A186A1017F}"/>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92181EF0-497C-AB7F-9FAB-9C0E7A03BFBA}"/>
              </a:ext>
            </a:extLst>
          </p:cNvPr>
          <p:cNvSpPr>
            <a:spLocks noGrp="1"/>
          </p:cNvSpPr>
          <p:nvPr>
            <p:ph type="sldNum" sz="quarter" idx="12"/>
          </p:nvPr>
        </p:nvSpPr>
        <p:spPr/>
        <p:txBody>
          <a:bodyPr/>
          <a:lstStyle/>
          <a:p>
            <a:fld id="{6B363922-730C-4DE8-9D4B-E77F28A2C45F}" type="slidenum">
              <a:rPr lang="en-IN" smtClean="0"/>
              <a:t>‹#›</a:t>
            </a:fld>
            <a:endParaRPr lang="en-IN"/>
          </a:p>
        </p:txBody>
      </p:sp>
    </p:spTree>
    <p:extLst>
      <p:ext uri="{BB962C8B-B14F-4D97-AF65-F5344CB8AC3E}">
        <p14:creationId xmlns:p14="http://schemas.microsoft.com/office/powerpoint/2010/main" val="35150302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FA47AA-080F-2D72-EE68-001D384C512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6706F368-7367-73E7-E859-6712FFD3799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6AA150DF-2536-FBCF-1B0B-3D1C246BBCD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9A2D439-94DA-E9A2-5223-DF30DEBF730E}"/>
              </a:ext>
            </a:extLst>
          </p:cNvPr>
          <p:cNvSpPr>
            <a:spLocks noGrp="1"/>
          </p:cNvSpPr>
          <p:nvPr>
            <p:ph type="dt" sz="half" idx="10"/>
          </p:nvPr>
        </p:nvSpPr>
        <p:spPr/>
        <p:txBody>
          <a:bodyPr/>
          <a:lstStyle/>
          <a:p>
            <a:fld id="{831AB708-349D-40BF-861F-28AE2E9BBF19}" type="datetimeFigureOut">
              <a:rPr lang="en-IN" smtClean="0"/>
              <a:t>09-02-2026</a:t>
            </a:fld>
            <a:endParaRPr lang="en-IN"/>
          </a:p>
        </p:txBody>
      </p:sp>
      <p:sp>
        <p:nvSpPr>
          <p:cNvPr id="6" name="Footer Placeholder 5">
            <a:extLst>
              <a:ext uri="{FF2B5EF4-FFF2-40B4-BE49-F238E27FC236}">
                <a16:creationId xmlns:a16="http://schemas.microsoft.com/office/drawing/2014/main" id="{83A09C99-758B-B1EB-7CC1-72476ABD1B0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32F32F4-AD1B-9CB7-85AB-7FA790D01262}"/>
              </a:ext>
            </a:extLst>
          </p:cNvPr>
          <p:cNvSpPr>
            <a:spLocks noGrp="1"/>
          </p:cNvSpPr>
          <p:nvPr>
            <p:ph type="sldNum" sz="quarter" idx="12"/>
          </p:nvPr>
        </p:nvSpPr>
        <p:spPr/>
        <p:txBody>
          <a:bodyPr/>
          <a:lstStyle/>
          <a:p>
            <a:fld id="{6B363922-730C-4DE8-9D4B-E77F28A2C45F}" type="slidenum">
              <a:rPr lang="en-IN" smtClean="0"/>
              <a:t>‹#›</a:t>
            </a:fld>
            <a:endParaRPr lang="en-IN"/>
          </a:p>
        </p:txBody>
      </p:sp>
    </p:spTree>
    <p:extLst>
      <p:ext uri="{BB962C8B-B14F-4D97-AF65-F5344CB8AC3E}">
        <p14:creationId xmlns:p14="http://schemas.microsoft.com/office/powerpoint/2010/main" val="6670017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79A50C-E42D-C980-9ECA-7EB4EEE0F98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EFFE590C-A668-F82C-5486-2C9CC676F58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CD5F7E20-0FBB-769E-36A6-D5109BAE003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41CAFC3-8A81-45E0-164F-3B16C2876D84}"/>
              </a:ext>
            </a:extLst>
          </p:cNvPr>
          <p:cNvSpPr>
            <a:spLocks noGrp="1"/>
          </p:cNvSpPr>
          <p:nvPr>
            <p:ph type="dt" sz="half" idx="10"/>
          </p:nvPr>
        </p:nvSpPr>
        <p:spPr/>
        <p:txBody>
          <a:bodyPr/>
          <a:lstStyle/>
          <a:p>
            <a:fld id="{831AB708-349D-40BF-861F-28AE2E9BBF19}" type="datetimeFigureOut">
              <a:rPr lang="en-IN" smtClean="0"/>
              <a:t>09-02-2026</a:t>
            </a:fld>
            <a:endParaRPr lang="en-IN"/>
          </a:p>
        </p:txBody>
      </p:sp>
      <p:sp>
        <p:nvSpPr>
          <p:cNvPr id="6" name="Footer Placeholder 5">
            <a:extLst>
              <a:ext uri="{FF2B5EF4-FFF2-40B4-BE49-F238E27FC236}">
                <a16:creationId xmlns:a16="http://schemas.microsoft.com/office/drawing/2014/main" id="{1CC89239-9F7A-8939-134D-18C2417C164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E491A98-F37D-A806-0FC3-8074871CDB11}"/>
              </a:ext>
            </a:extLst>
          </p:cNvPr>
          <p:cNvSpPr>
            <a:spLocks noGrp="1"/>
          </p:cNvSpPr>
          <p:nvPr>
            <p:ph type="sldNum" sz="quarter" idx="12"/>
          </p:nvPr>
        </p:nvSpPr>
        <p:spPr/>
        <p:txBody>
          <a:bodyPr/>
          <a:lstStyle/>
          <a:p>
            <a:fld id="{6B363922-730C-4DE8-9D4B-E77F28A2C45F}" type="slidenum">
              <a:rPr lang="en-IN" smtClean="0"/>
              <a:t>‹#›</a:t>
            </a:fld>
            <a:endParaRPr lang="en-IN"/>
          </a:p>
        </p:txBody>
      </p:sp>
    </p:spTree>
    <p:extLst>
      <p:ext uri="{BB962C8B-B14F-4D97-AF65-F5344CB8AC3E}">
        <p14:creationId xmlns:p14="http://schemas.microsoft.com/office/powerpoint/2010/main" val="25038713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4EAC07-F68D-ED74-D86F-149DBAEE7149}"/>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04D630E-7F09-7FD9-6BAA-E2192C478D7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6953981-9958-4FCC-F5E1-875E7B119277}"/>
              </a:ext>
            </a:extLst>
          </p:cNvPr>
          <p:cNvSpPr>
            <a:spLocks noGrp="1"/>
          </p:cNvSpPr>
          <p:nvPr>
            <p:ph type="dt" sz="half" idx="10"/>
          </p:nvPr>
        </p:nvSpPr>
        <p:spPr/>
        <p:txBody>
          <a:bodyPr/>
          <a:lstStyle/>
          <a:p>
            <a:fld id="{831AB708-349D-40BF-861F-28AE2E9BBF19}" type="datetimeFigureOut">
              <a:rPr lang="en-IN" smtClean="0"/>
              <a:t>09-02-2026</a:t>
            </a:fld>
            <a:endParaRPr lang="en-IN"/>
          </a:p>
        </p:txBody>
      </p:sp>
      <p:sp>
        <p:nvSpPr>
          <p:cNvPr id="5" name="Footer Placeholder 4">
            <a:extLst>
              <a:ext uri="{FF2B5EF4-FFF2-40B4-BE49-F238E27FC236}">
                <a16:creationId xmlns:a16="http://schemas.microsoft.com/office/drawing/2014/main" id="{16F45781-3F34-CC9F-EA47-6FB15ED4ACC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1D8E2D5-27B3-9FD3-0969-2FDFA9E5FD17}"/>
              </a:ext>
            </a:extLst>
          </p:cNvPr>
          <p:cNvSpPr>
            <a:spLocks noGrp="1"/>
          </p:cNvSpPr>
          <p:nvPr>
            <p:ph type="sldNum" sz="quarter" idx="12"/>
          </p:nvPr>
        </p:nvSpPr>
        <p:spPr/>
        <p:txBody>
          <a:bodyPr/>
          <a:lstStyle/>
          <a:p>
            <a:fld id="{6B363922-730C-4DE8-9D4B-E77F28A2C45F}" type="slidenum">
              <a:rPr lang="en-IN" smtClean="0"/>
              <a:t>‹#›</a:t>
            </a:fld>
            <a:endParaRPr lang="en-IN"/>
          </a:p>
        </p:txBody>
      </p:sp>
    </p:spTree>
    <p:extLst>
      <p:ext uri="{BB962C8B-B14F-4D97-AF65-F5344CB8AC3E}">
        <p14:creationId xmlns:p14="http://schemas.microsoft.com/office/powerpoint/2010/main" val="8498842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94B11A0-593E-EA41-5F25-C142774E3E7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6CA88DF-B20A-6612-7C5E-7F99EBD55EF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A96F022-125C-9AF9-B060-EE6C65595F09}"/>
              </a:ext>
            </a:extLst>
          </p:cNvPr>
          <p:cNvSpPr>
            <a:spLocks noGrp="1"/>
          </p:cNvSpPr>
          <p:nvPr>
            <p:ph type="dt" sz="half" idx="10"/>
          </p:nvPr>
        </p:nvSpPr>
        <p:spPr/>
        <p:txBody>
          <a:bodyPr/>
          <a:lstStyle/>
          <a:p>
            <a:fld id="{831AB708-349D-40BF-861F-28AE2E9BBF19}" type="datetimeFigureOut">
              <a:rPr lang="en-IN" smtClean="0"/>
              <a:t>09-02-2026</a:t>
            </a:fld>
            <a:endParaRPr lang="en-IN"/>
          </a:p>
        </p:txBody>
      </p:sp>
      <p:sp>
        <p:nvSpPr>
          <p:cNvPr id="5" name="Footer Placeholder 4">
            <a:extLst>
              <a:ext uri="{FF2B5EF4-FFF2-40B4-BE49-F238E27FC236}">
                <a16:creationId xmlns:a16="http://schemas.microsoft.com/office/drawing/2014/main" id="{50825D00-E47F-B5D0-1E10-6D09FA483E4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03B075F-C07E-2DE4-4344-9B0A962E83A6}"/>
              </a:ext>
            </a:extLst>
          </p:cNvPr>
          <p:cNvSpPr>
            <a:spLocks noGrp="1"/>
          </p:cNvSpPr>
          <p:nvPr>
            <p:ph type="sldNum" sz="quarter" idx="12"/>
          </p:nvPr>
        </p:nvSpPr>
        <p:spPr/>
        <p:txBody>
          <a:bodyPr/>
          <a:lstStyle/>
          <a:p>
            <a:fld id="{6B363922-730C-4DE8-9D4B-E77F28A2C45F}" type="slidenum">
              <a:rPr lang="en-IN" smtClean="0"/>
              <a:t>‹#›</a:t>
            </a:fld>
            <a:endParaRPr lang="en-IN"/>
          </a:p>
        </p:txBody>
      </p:sp>
    </p:spTree>
    <p:extLst>
      <p:ext uri="{BB962C8B-B14F-4D97-AF65-F5344CB8AC3E}">
        <p14:creationId xmlns:p14="http://schemas.microsoft.com/office/powerpoint/2010/main" val="31582413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F3F2944-A572-A9E1-7223-D7BE897C356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B03D4B1-336B-CA81-4E28-9B7E59F34B0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68C7FD8-0E9A-6AAC-4198-C67516859CD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31AB708-349D-40BF-861F-28AE2E9BBF19}" type="datetimeFigureOut">
              <a:rPr lang="en-IN" smtClean="0"/>
              <a:t>09-02-2026</a:t>
            </a:fld>
            <a:endParaRPr lang="en-IN"/>
          </a:p>
        </p:txBody>
      </p:sp>
      <p:sp>
        <p:nvSpPr>
          <p:cNvPr id="5" name="Footer Placeholder 4">
            <a:extLst>
              <a:ext uri="{FF2B5EF4-FFF2-40B4-BE49-F238E27FC236}">
                <a16:creationId xmlns:a16="http://schemas.microsoft.com/office/drawing/2014/main" id="{60534A9C-5D5A-FD4D-4CF0-56172B07205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C9B54E5F-27CA-A83B-3C8E-8AF18861E98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B363922-730C-4DE8-9D4B-E77F28A2C45F}" type="slidenum">
              <a:rPr lang="en-IN" smtClean="0"/>
              <a:t>‹#›</a:t>
            </a:fld>
            <a:endParaRPr lang="en-IN"/>
          </a:p>
        </p:txBody>
      </p:sp>
    </p:spTree>
    <p:extLst>
      <p:ext uri="{BB962C8B-B14F-4D97-AF65-F5344CB8AC3E}">
        <p14:creationId xmlns:p14="http://schemas.microsoft.com/office/powerpoint/2010/main" val="263595563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4433D7AB-87ED-6B7D-BAE7-DAE39DE3DED4}"/>
              </a:ext>
            </a:extLst>
          </p:cNvPr>
          <p:cNvSpPr/>
          <p:nvPr/>
        </p:nvSpPr>
        <p:spPr>
          <a:xfrm>
            <a:off x="0" y="0"/>
            <a:ext cx="4434348" cy="6858000"/>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IN"/>
          </a:p>
        </p:txBody>
      </p:sp>
      <p:sp>
        <p:nvSpPr>
          <p:cNvPr id="5" name="Rectangle: Rounded Corners 4">
            <a:extLst>
              <a:ext uri="{FF2B5EF4-FFF2-40B4-BE49-F238E27FC236}">
                <a16:creationId xmlns:a16="http://schemas.microsoft.com/office/drawing/2014/main" id="{CBB18EAD-B777-2171-A3EB-8D844E284F86}"/>
              </a:ext>
            </a:extLst>
          </p:cNvPr>
          <p:cNvSpPr/>
          <p:nvPr/>
        </p:nvSpPr>
        <p:spPr>
          <a:xfrm>
            <a:off x="757082" y="78658"/>
            <a:ext cx="11434917" cy="6685936"/>
          </a:xfrm>
          <a:prstGeom prst="roundRect">
            <a:avLst/>
          </a:prstGeom>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IN" dirty="0"/>
          </a:p>
        </p:txBody>
      </p:sp>
      <p:sp>
        <p:nvSpPr>
          <p:cNvPr id="6" name="TextBox 5">
            <a:extLst>
              <a:ext uri="{FF2B5EF4-FFF2-40B4-BE49-F238E27FC236}">
                <a16:creationId xmlns:a16="http://schemas.microsoft.com/office/drawing/2014/main" id="{F8A445AE-7527-C516-0141-FD45098E59D6}"/>
              </a:ext>
            </a:extLst>
          </p:cNvPr>
          <p:cNvSpPr txBox="1"/>
          <p:nvPr/>
        </p:nvSpPr>
        <p:spPr>
          <a:xfrm>
            <a:off x="3121742" y="1450258"/>
            <a:ext cx="5948515" cy="584775"/>
          </a:xfrm>
          <a:prstGeom prst="rect">
            <a:avLst/>
          </a:prstGeom>
          <a:noFill/>
        </p:spPr>
        <p:txBody>
          <a:bodyPr wrap="square" rtlCol="0">
            <a:spAutoFit/>
          </a:bodyPr>
          <a:lstStyle/>
          <a:p>
            <a:r>
              <a:rPr lang="en-IN" sz="3200" b="1" dirty="0"/>
              <a:t>CUSTOMER BEHAVIOUR ANALYSIS</a:t>
            </a:r>
          </a:p>
        </p:txBody>
      </p:sp>
      <p:sp>
        <p:nvSpPr>
          <p:cNvPr id="7" name="TextBox 6">
            <a:extLst>
              <a:ext uri="{FF2B5EF4-FFF2-40B4-BE49-F238E27FC236}">
                <a16:creationId xmlns:a16="http://schemas.microsoft.com/office/drawing/2014/main" id="{327EB7E5-47EA-067F-8BD5-48D4B2EF11B5}"/>
              </a:ext>
            </a:extLst>
          </p:cNvPr>
          <p:cNvSpPr txBox="1"/>
          <p:nvPr/>
        </p:nvSpPr>
        <p:spPr>
          <a:xfrm>
            <a:off x="929148" y="2280839"/>
            <a:ext cx="11262852" cy="1754326"/>
          </a:xfrm>
          <a:prstGeom prst="rect">
            <a:avLst/>
          </a:prstGeom>
          <a:noFill/>
        </p:spPr>
        <p:txBody>
          <a:bodyPr wrap="square" rtlCol="0">
            <a:spAutoFit/>
          </a:bodyPr>
          <a:lstStyle/>
          <a:p>
            <a:r>
              <a:rPr lang="en-US" dirty="0"/>
              <a:t>Customer </a:t>
            </a:r>
            <a:r>
              <a:rPr lang="en-US" dirty="0" err="1"/>
              <a:t>behaviour</a:t>
            </a:r>
            <a:r>
              <a:rPr lang="en-US" dirty="0"/>
              <a:t> analysis looks at how customers make decisions, their product and buying preferences and how they respond to various initiatives, including marketing campaigns, product updates and offers. An analysis can include the psychological factors and social influences that lead to a decision.</a:t>
            </a:r>
          </a:p>
          <a:p>
            <a:r>
              <a:rPr lang="en-US" dirty="0"/>
              <a:t>Customer </a:t>
            </a:r>
            <a:r>
              <a:rPr lang="en-US" dirty="0" err="1"/>
              <a:t>behaviour</a:t>
            </a:r>
            <a:r>
              <a:rPr lang="en-US" dirty="0"/>
              <a:t> analysis is important because it provides valuable insights for businesses to tailor their offerings, enhance customer experiences and create effective marketing campaigns and product updates. Understanding customer decisions and preferences is essential for long-term success in the marketplace.</a:t>
            </a:r>
          </a:p>
        </p:txBody>
      </p:sp>
    </p:spTree>
    <p:extLst>
      <p:ext uri="{BB962C8B-B14F-4D97-AF65-F5344CB8AC3E}">
        <p14:creationId xmlns:p14="http://schemas.microsoft.com/office/powerpoint/2010/main" val="23456131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1B3E1B-7641-424F-9C13-821A0F5873E9}"/>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70DF8CB9-A024-B492-C443-0080684E96FD}"/>
              </a:ext>
            </a:extLst>
          </p:cNvPr>
          <p:cNvSpPr/>
          <p:nvPr/>
        </p:nvSpPr>
        <p:spPr>
          <a:xfrm>
            <a:off x="0" y="0"/>
            <a:ext cx="4434348" cy="6858000"/>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IN"/>
          </a:p>
        </p:txBody>
      </p:sp>
      <p:sp>
        <p:nvSpPr>
          <p:cNvPr id="5" name="Rectangle: Rounded Corners 4">
            <a:extLst>
              <a:ext uri="{FF2B5EF4-FFF2-40B4-BE49-F238E27FC236}">
                <a16:creationId xmlns:a16="http://schemas.microsoft.com/office/drawing/2014/main" id="{5F8581F7-AEEC-6ED2-D6E8-16D0B3D7CAC0}"/>
              </a:ext>
            </a:extLst>
          </p:cNvPr>
          <p:cNvSpPr/>
          <p:nvPr/>
        </p:nvSpPr>
        <p:spPr>
          <a:xfrm>
            <a:off x="757082" y="78658"/>
            <a:ext cx="11434917" cy="6685936"/>
          </a:xfrm>
          <a:prstGeom prst="roundRect">
            <a:avLst/>
          </a:prstGeom>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IN" dirty="0"/>
          </a:p>
        </p:txBody>
      </p:sp>
      <p:sp>
        <p:nvSpPr>
          <p:cNvPr id="7" name="TextBox 6">
            <a:extLst>
              <a:ext uri="{FF2B5EF4-FFF2-40B4-BE49-F238E27FC236}">
                <a16:creationId xmlns:a16="http://schemas.microsoft.com/office/drawing/2014/main" id="{530100B8-EA1A-4353-194D-3B26F44C420A}"/>
              </a:ext>
            </a:extLst>
          </p:cNvPr>
          <p:cNvSpPr txBox="1"/>
          <p:nvPr/>
        </p:nvSpPr>
        <p:spPr>
          <a:xfrm>
            <a:off x="929147" y="756839"/>
            <a:ext cx="11262852" cy="5539978"/>
          </a:xfrm>
          <a:prstGeom prst="rect">
            <a:avLst/>
          </a:prstGeom>
          <a:noFill/>
        </p:spPr>
        <p:txBody>
          <a:bodyPr wrap="square" rtlCol="0">
            <a:spAutoFit/>
          </a:bodyPr>
          <a:lstStyle/>
          <a:p>
            <a:r>
              <a:rPr lang="en-US" sz="2400" b="1" dirty="0"/>
              <a:t>Objective:</a:t>
            </a:r>
            <a:br>
              <a:rPr lang="en-US" sz="2400" dirty="0"/>
            </a:br>
            <a:r>
              <a:rPr lang="en-US" sz="2400" dirty="0"/>
              <a:t>To </a:t>
            </a:r>
            <a:r>
              <a:rPr lang="en-US" sz="2400" dirty="0" err="1"/>
              <a:t>analyse</a:t>
            </a:r>
            <a:r>
              <a:rPr lang="en-US" sz="2400" dirty="0"/>
              <a:t> customer purchasing </a:t>
            </a:r>
            <a:r>
              <a:rPr lang="en-US" sz="2400" dirty="0" err="1"/>
              <a:t>behaviour</a:t>
            </a:r>
            <a:r>
              <a:rPr lang="en-US" sz="2400" dirty="0"/>
              <a:t> and identify patterns that drive revenue, customer value, and churn risk, enabling data-driven business decisions.</a:t>
            </a:r>
          </a:p>
          <a:p>
            <a:endParaRPr lang="en-US" sz="2400" dirty="0"/>
          </a:p>
          <a:p>
            <a:r>
              <a:rPr lang="en-US" sz="2400" b="1" dirty="0"/>
              <a:t>Approach:</a:t>
            </a:r>
            <a:br>
              <a:rPr lang="en-US" sz="2400" dirty="0"/>
            </a:br>
            <a:r>
              <a:rPr lang="en-US" sz="2400" dirty="0"/>
              <a:t>The analysis was conducted using Python with a structured analytical framework involving:</a:t>
            </a:r>
          </a:p>
          <a:p>
            <a:pPr marL="285750" indent="-285750">
              <a:buFont typeface="Arial" panose="020B0604020202020204" pitchFamily="34" charset="0"/>
              <a:buChar char="•"/>
            </a:pPr>
            <a:r>
              <a:rPr lang="en-US" sz="2400" dirty="0"/>
              <a:t>Data cleaning and preparation</a:t>
            </a:r>
          </a:p>
          <a:p>
            <a:pPr marL="285750" indent="-285750">
              <a:buFont typeface="Arial" panose="020B0604020202020204" pitchFamily="34" charset="0"/>
              <a:buChar char="•"/>
            </a:pPr>
            <a:r>
              <a:rPr lang="en-US" sz="2400" dirty="0"/>
              <a:t>Exploratory Data Analysis (EDA)</a:t>
            </a:r>
          </a:p>
          <a:p>
            <a:pPr marL="285750" indent="-285750">
              <a:buFont typeface="Arial" panose="020B0604020202020204" pitchFamily="34" charset="0"/>
              <a:buChar char="•"/>
            </a:pPr>
            <a:r>
              <a:rPr lang="en-US" sz="2400" dirty="0"/>
              <a:t>Outlier detection using IQR</a:t>
            </a:r>
          </a:p>
          <a:p>
            <a:pPr marL="285750" indent="-285750">
              <a:buFont typeface="Arial" panose="020B0604020202020204" pitchFamily="34" charset="0"/>
              <a:buChar char="•"/>
            </a:pPr>
            <a:r>
              <a:rPr lang="en-US" sz="2400" dirty="0"/>
              <a:t>Statistical testing (t-test, correlation analysis)</a:t>
            </a:r>
          </a:p>
          <a:p>
            <a:pPr marL="285750" indent="-285750">
              <a:buFont typeface="Arial" panose="020B0604020202020204" pitchFamily="34" charset="0"/>
              <a:buChar char="•"/>
            </a:pPr>
            <a:r>
              <a:rPr lang="en-US" sz="2400" dirty="0" err="1"/>
              <a:t>Behavioural</a:t>
            </a:r>
            <a:r>
              <a:rPr lang="en-US" sz="2400" dirty="0"/>
              <a:t> segmentation</a:t>
            </a:r>
          </a:p>
          <a:p>
            <a:pPr marL="285750" indent="-285750">
              <a:buFont typeface="Arial" panose="020B0604020202020204" pitchFamily="34" charset="0"/>
              <a:buChar char="•"/>
            </a:pPr>
            <a:r>
              <a:rPr lang="en-US" sz="2400" dirty="0"/>
              <a:t>Predictive churn risk scoring</a:t>
            </a:r>
          </a:p>
          <a:p>
            <a:pPr marL="285750" indent="-285750">
              <a:buFont typeface="Arial" panose="020B0604020202020204" pitchFamily="34" charset="0"/>
              <a:buChar char="•"/>
            </a:pPr>
            <a:r>
              <a:rPr lang="en-US" sz="2400" dirty="0"/>
              <a:t>Business-oriented interpretation of results</a:t>
            </a:r>
          </a:p>
          <a:p>
            <a:endParaRPr lang="en-US" dirty="0"/>
          </a:p>
        </p:txBody>
      </p:sp>
    </p:spTree>
    <p:extLst>
      <p:ext uri="{BB962C8B-B14F-4D97-AF65-F5344CB8AC3E}">
        <p14:creationId xmlns:p14="http://schemas.microsoft.com/office/powerpoint/2010/main" val="21901378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36135E-9845-4AE3-371F-47A884F10D6C}"/>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6C5CB5D2-1DE1-6E7C-FA5C-9FF55C11D203}"/>
              </a:ext>
            </a:extLst>
          </p:cNvPr>
          <p:cNvSpPr/>
          <p:nvPr/>
        </p:nvSpPr>
        <p:spPr>
          <a:xfrm>
            <a:off x="0" y="0"/>
            <a:ext cx="4434348" cy="6858000"/>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IN"/>
          </a:p>
        </p:txBody>
      </p:sp>
      <p:sp>
        <p:nvSpPr>
          <p:cNvPr id="5" name="Rectangle: Rounded Corners 4">
            <a:extLst>
              <a:ext uri="{FF2B5EF4-FFF2-40B4-BE49-F238E27FC236}">
                <a16:creationId xmlns:a16="http://schemas.microsoft.com/office/drawing/2014/main" id="{0BA3ECDD-884B-A556-8A29-CE78F497C1EF}"/>
              </a:ext>
            </a:extLst>
          </p:cNvPr>
          <p:cNvSpPr/>
          <p:nvPr/>
        </p:nvSpPr>
        <p:spPr>
          <a:xfrm>
            <a:off x="757082" y="78658"/>
            <a:ext cx="11434917" cy="6685936"/>
          </a:xfrm>
          <a:prstGeom prst="roundRect">
            <a:avLst/>
          </a:prstGeom>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IN"/>
          </a:p>
        </p:txBody>
      </p:sp>
      <p:sp>
        <p:nvSpPr>
          <p:cNvPr id="2" name="TextBox 1">
            <a:extLst>
              <a:ext uri="{FF2B5EF4-FFF2-40B4-BE49-F238E27FC236}">
                <a16:creationId xmlns:a16="http://schemas.microsoft.com/office/drawing/2014/main" id="{FC2B95CC-3F81-8A63-9AA6-EDDC34FDF490}"/>
              </a:ext>
            </a:extLst>
          </p:cNvPr>
          <p:cNvSpPr txBox="1"/>
          <p:nvPr/>
        </p:nvSpPr>
        <p:spPr>
          <a:xfrm>
            <a:off x="1219200" y="1229032"/>
            <a:ext cx="9488128" cy="3416320"/>
          </a:xfrm>
          <a:prstGeom prst="rect">
            <a:avLst/>
          </a:prstGeom>
          <a:noFill/>
        </p:spPr>
        <p:txBody>
          <a:bodyPr wrap="square" rtlCol="0">
            <a:spAutoFit/>
          </a:bodyPr>
          <a:lstStyle/>
          <a:p>
            <a:r>
              <a:rPr lang="en-US" sz="2400" b="1" dirty="0"/>
              <a:t>Key Analytical Focus Areas:</a:t>
            </a:r>
            <a:endParaRPr lang="en-US" sz="2400" dirty="0"/>
          </a:p>
          <a:p>
            <a:pPr marL="285750" indent="-285750">
              <a:buFont typeface="Arial" panose="020B0604020202020204" pitchFamily="34" charset="0"/>
              <a:buChar char="•"/>
            </a:pPr>
            <a:r>
              <a:rPr lang="en-US" sz="2400" dirty="0"/>
              <a:t>Spending </a:t>
            </a:r>
            <a:r>
              <a:rPr lang="en-US" sz="2400" dirty="0" err="1"/>
              <a:t>behaviour</a:t>
            </a:r>
            <a:r>
              <a:rPr lang="en-US" sz="2400" dirty="0"/>
              <a:t> analysis</a:t>
            </a:r>
          </a:p>
          <a:p>
            <a:pPr marL="285750" indent="-285750">
              <a:buFont typeface="Arial" panose="020B0604020202020204" pitchFamily="34" charset="0"/>
              <a:buChar char="•"/>
            </a:pPr>
            <a:r>
              <a:rPr lang="en-US" sz="2400" dirty="0"/>
              <a:t>Demographic influence on purchases</a:t>
            </a:r>
          </a:p>
          <a:p>
            <a:pPr marL="285750" indent="-285750">
              <a:buFont typeface="Arial" panose="020B0604020202020204" pitchFamily="34" charset="0"/>
              <a:buChar char="•"/>
            </a:pPr>
            <a:r>
              <a:rPr lang="en-US" sz="2400" dirty="0"/>
              <a:t>Location-based purchasing trends</a:t>
            </a:r>
          </a:p>
          <a:p>
            <a:pPr marL="285750" indent="-285750">
              <a:buFont typeface="Arial" panose="020B0604020202020204" pitchFamily="34" charset="0"/>
              <a:buChar char="•"/>
            </a:pPr>
            <a:r>
              <a:rPr lang="en-US" sz="2400" dirty="0"/>
              <a:t>Gender-based statistical comparison</a:t>
            </a:r>
          </a:p>
          <a:p>
            <a:pPr marL="285750" indent="-285750">
              <a:buFont typeface="Arial" panose="020B0604020202020204" pitchFamily="34" charset="0"/>
              <a:buChar char="•"/>
            </a:pPr>
            <a:r>
              <a:rPr lang="en-US" sz="2400" dirty="0"/>
              <a:t>Purchase distribution and skewness</a:t>
            </a:r>
          </a:p>
          <a:p>
            <a:pPr marL="285750" indent="-285750">
              <a:buFont typeface="Arial" panose="020B0604020202020204" pitchFamily="34" charset="0"/>
              <a:buChar char="•"/>
            </a:pPr>
            <a:r>
              <a:rPr lang="en-US" sz="2400" dirty="0"/>
              <a:t>High-value and risky customer detection</a:t>
            </a:r>
          </a:p>
          <a:p>
            <a:pPr marL="285750" indent="-285750">
              <a:buFont typeface="Arial" panose="020B0604020202020204" pitchFamily="34" charset="0"/>
              <a:buChar char="•"/>
            </a:pPr>
            <a:r>
              <a:rPr lang="en-US" sz="2400" dirty="0"/>
              <a:t>Churn risk modelling</a:t>
            </a:r>
          </a:p>
          <a:p>
            <a:pPr marL="285750" indent="-285750">
              <a:buFont typeface="Arial" panose="020B0604020202020204" pitchFamily="34" charset="0"/>
              <a:buChar char="•"/>
            </a:pPr>
            <a:r>
              <a:rPr lang="en-US" sz="2400" dirty="0"/>
              <a:t>Customer loyalty indicators (previous purchases)</a:t>
            </a:r>
          </a:p>
        </p:txBody>
      </p:sp>
    </p:spTree>
    <p:extLst>
      <p:ext uri="{BB962C8B-B14F-4D97-AF65-F5344CB8AC3E}">
        <p14:creationId xmlns:p14="http://schemas.microsoft.com/office/powerpoint/2010/main" val="31850838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C3384D-236A-DF47-73AE-B7CEAA100AE8}"/>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AF4264DC-6BF8-3098-4286-1D35E3E78D15}"/>
              </a:ext>
            </a:extLst>
          </p:cNvPr>
          <p:cNvSpPr/>
          <p:nvPr/>
        </p:nvSpPr>
        <p:spPr>
          <a:xfrm>
            <a:off x="0" y="0"/>
            <a:ext cx="4434348" cy="6858000"/>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IN"/>
          </a:p>
        </p:txBody>
      </p:sp>
      <p:sp>
        <p:nvSpPr>
          <p:cNvPr id="5" name="Rectangle: Rounded Corners 4">
            <a:extLst>
              <a:ext uri="{FF2B5EF4-FFF2-40B4-BE49-F238E27FC236}">
                <a16:creationId xmlns:a16="http://schemas.microsoft.com/office/drawing/2014/main" id="{2FA4C4B0-D63E-B05B-654C-7F4EDFD2F762}"/>
              </a:ext>
            </a:extLst>
          </p:cNvPr>
          <p:cNvSpPr/>
          <p:nvPr/>
        </p:nvSpPr>
        <p:spPr>
          <a:xfrm>
            <a:off x="757082" y="78658"/>
            <a:ext cx="11434917" cy="6685936"/>
          </a:xfrm>
          <a:prstGeom prst="roundRect">
            <a:avLst/>
          </a:prstGeom>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IN"/>
          </a:p>
        </p:txBody>
      </p:sp>
      <p:pic>
        <p:nvPicPr>
          <p:cNvPr id="2" name="Picture 1" descr="extracted_0.png">
            <a:extLst>
              <a:ext uri="{FF2B5EF4-FFF2-40B4-BE49-F238E27FC236}">
                <a16:creationId xmlns:a16="http://schemas.microsoft.com/office/drawing/2014/main" id="{92EE4F42-B84C-10FF-2B9C-043BC3D05163}"/>
              </a:ext>
            </a:extLst>
          </p:cNvPr>
          <p:cNvPicPr>
            <a:picLocks noChangeAspect="1"/>
          </p:cNvPicPr>
          <p:nvPr/>
        </p:nvPicPr>
        <p:blipFill>
          <a:blip r:embed="rId2"/>
          <a:stretch>
            <a:fillRect/>
          </a:stretch>
        </p:blipFill>
        <p:spPr>
          <a:xfrm>
            <a:off x="1804220" y="1268853"/>
            <a:ext cx="9344146" cy="4320294"/>
          </a:xfrm>
          <a:prstGeom prst="rect">
            <a:avLst/>
          </a:prstGeom>
        </p:spPr>
      </p:pic>
    </p:spTree>
    <p:extLst>
      <p:ext uri="{BB962C8B-B14F-4D97-AF65-F5344CB8AC3E}">
        <p14:creationId xmlns:p14="http://schemas.microsoft.com/office/powerpoint/2010/main" val="16526353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65C78B-89F8-6303-FECF-8693DA3060DD}"/>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58C49BE6-8D01-1978-088A-21CE705DDAE9}"/>
              </a:ext>
            </a:extLst>
          </p:cNvPr>
          <p:cNvSpPr/>
          <p:nvPr/>
        </p:nvSpPr>
        <p:spPr>
          <a:xfrm>
            <a:off x="0" y="0"/>
            <a:ext cx="4434348" cy="6858000"/>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IN"/>
          </a:p>
        </p:txBody>
      </p:sp>
      <p:sp>
        <p:nvSpPr>
          <p:cNvPr id="5" name="Rectangle: Rounded Corners 4">
            <a:extLst>
              <a:ext uri="{FF2B5EF4-FFF2-40B4-BE49-F238E27FC236}">
                <a16:creationId xmlns:a16="http://schemas.microsoft.com/office/drawing/2014/main" id="{658A2C14-B3A4-DC36-9937-8FFDA2EFF888}"/>
              </a:ext>
            </a:extLst>
          </p:cNvPr>
          <p:cNvSpPr/>
          <p:nvPr/>
        </p:nvSpPr>
        <p:spPr>
          <a:xfrm>
            <a:off x="757082" y="78658"/>
            <a:ext cx="11434917" cy="6685936"/>
          </a:xfrm>
          <a:prstGeom prst="roundRect">
            <a:avLst/>
          </a:prstGeom>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IN"/>
          </a:p>
        </p:txBody>
      </p:sp>
      <p:pic>
        <p:nvPicPr>
          <p:cNvPr id="2" name="Picture 1" descr="extracted_1.png">
            <a:extLst>
              <a:ext uri="{FF2B5EF4-FFF2-40B4-BE49-F238E27FC236}">
                <a16:creationId xmlns:a16="http://schemas.microsoft.com/office/drawing/2014/main" id="{3285D859-AD3D-3E4B-426B-616B82F2730A}"/>
              </a:ext>
            </a:extLst>
          </p:cNvPr>
          <p:cNvPicPr>
            <a:picLocks noChangeAspect="1"/>
          </p:cNvPicPr>
          <p:nvPr/>
        </p:nvPicPr>
        <p:blipFill>
          <a:blip r:embed="rId2"/>
          <a:stretch>
            <a:fillRect/>
          </a:stretch>
        </p:blipFill>
        <p:spPr>
          <a:xfrm>
            <a:off x="2285997" y="1114341"/>
            <a:ext cx="8372169" cy="4629317"/>
          </a:xfrm>
          <a:prstGeom prst="rect">
            <a:avLst/>
          </a:prstGeom>
        </p:spPr>
      </p:pic>
    </p:spTree>
    <p:extLst>
      <p:ext uri="{BB962C8B-B14F-4D97-AF65-F5344CB8AC3E}">
        <p14:creationId xmlns:p14="http://schemas.microsoft.com/office/powerpoint/2010/main" val="15413507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287024-7AAE-E0F5-0499-219A16A44519}"/>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D90F65DC-32B6-102F-ECDF-7BBE36EA842D}"/>
              </a:ext>
            </a:extLst>
          </p:cNvPr>
          <p:cNvSpPr/>
          <p:nvPr/>
        </p:nvSpPr>
        <p:spPr>
          <a:xfrm>
            <a:off x="0" y="0"/>
            <a:ext cx="4434348" cy="6858000"/>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IN"/>
          </a:p>
        </p:txBody>
      </p:sp>
      <p:sp>
        <p:nvSpPr>
          <p:cNvPr id="5" name="Rectangle: Rounded Corners 4">
            <a:extLst>
              <a:ext uri="{FF2B5EF4-FFF2-40B4-BE49-F238E27FC236}">
                <a16:creationId xmlns:a16="http://schemas.microsoft.com/office/drawing/2014/main" id="{0B2BBC38-2A5C-2FCD-35E4-76F49BF61FF3}"/>
              </a:ext>
            </a:extLst>
          </p:cNvPr>
          <p:cNvSpPr/>
          <p:nvPr/>
        </p:nvSpPr>
        <p:spPr>
          <a:xfrm>
            <a:off x="757082" y="78658"/>
            <a:ext cx="11434917" cy="6685936"/>
          </a:xfrm>
          <a:prstGeom prst="roundRect">
            <a:avLst/>
          </a:prstGeom>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IN"/>
          </a:p>
        </p:txBody>
      </p:sp>
      <p:pic>
        <p:nvPicPr>
          <p:cNvPr id="2" name="Picture 1" descr="extracted_2.png">
            <a:extLst>
              <a:ext uri="{FF2B5EF4-FFF2-40B4-BE49-F238E27FC236}">
                <a16:creationId xmlns:a16="http://schemas.microsoft.com/office/drawing/2014/main" id="{AB857C2B-2A3B-C45D-F188-6FB8BA2DA0A3}"/>
              </a:ext>
            </a:extLst>
          </p:cNvPr>
          <p:cNvPicPr>
            <a:picLocks noChangeAspect="1"/>
          </p:cNvPicPr>
          <p:nvPr/>
        </p:nvPicPr>
        <p:blipFill>
          <a:blip r:embed="rId2"/>
          <a:stretch>
            <a:fillRect/>
          </a:stretch>
        </p:blipFill>
        <p:spPr>
          <a:xfrm>
            <a:off x="1764888" y="876507"/>
            <a:ext cx="9419304" cy="5090237"/>
          </a:xfrm>
          <a:prstGeom prst="rect">
            <a:avLst/>
          </a:prstGeom>
        </p:spPr>
      </p:pic>
    </p:spTree>
    <p:extLst>
      <p:ext uri="{BB962C8B-B14F-4D97-AF65-F5344CB8AC3E}">
        <p14:creationId xmlns:p14="http://schemas.microsoft.com/office/powerpoint/2010/main" val="38199701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0F1AC1-6B66-98A6-402D-35EF53F7207A}"/>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F533A107-DA49-B5EA-8059-0CC3D88C161B}"/>
              </a:ext>
            </a:extLst>
          </p:cNvPr>
          <p:cNvSpPr/>
          <p:nvPr/>
        </p:nvSpPr>
        <p:spPr>
          <a:xfrm>
            <a:off x="0" y="0"/>
            <a:ext cx="4434348" cy="6858000"/>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IN"/>
          </a:p>
        </p:txBody>
      </p:sp>
      <p:sp>
        <p:nvSpPr>
          <p:cNvPr id="5" name="Rectangle: Rounded Corners 4">
            <a:extLst>
              <a:ext uri="{FF2B5EF4-FFF2-40B4-BE49-F238E27FC236}">
                <a16:creationId xmlns:a16="http://schemas.microsoft.com/office/drawing/2014/main" id="{1915FFB8-3BF3-DE94-E408-3234D6457185}"/>
              </a:ext>
            </a:extLst>
          </p:cNvPr>
          <p:cNvSpPr/>
          <p:nvPr/>
        </p:nvSpPr>
        <p:spPr>
          <a:xfrm>
            <a:off x="757082" y="78658"/>
            <a:ext cx="11434917" cy="6685936"/>
          </a:xfrm>
          <a:prstGeom prst="roundRect">
            <a:avLst/>
          </a:prstGeom>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IN"/>
          </a:p>
        </p:txBody>
      </p:sp>
      <p:pic>
        <p:nvPicPr>
          <p:cNvPr id="2" name="Picture 1" descr="extracted_3.png">
            <a:extLst>
              <a:ext uri="{FF2B5EF4-FFF2-40B4-BE49-F238E27FC236}">
                <a16:creationId xmlns:a16="http://schemas.microsoft.com/office/drawing/2014/main" id="{E4F2279C-FF97-FEAF-6322-BA79034014FA}"/>
              </a:ext>
            </a:extLst>
          </p:cNvPr>
          <p:cNvPicPr>
            <a:picLocks noChangeAspect="1"/>
          </p:cNvPicPr>
          <p:nvPr/>
        </p:nvPicPr>
        <p:blipFill>
          <a:blip r:embed="rId2"/>
          <a:stretch>
            <a:fillRect/>
          </a:stretch>
        </p:blipFill>
        <p:spPr>
          <a:xfrm>
            <a:off x="1696062" y="1003382"/>
            <a:ext cx="9556955" cy="4851236"/>
          </a:xfrm>
          <a:prstGeom prst="rect">
            <a:avLst/>
          </a:prstGeom>
        </p:spPr>
      </p:pic>
    </p:spTree>
    <p:extLst>
      <p:ext uri="{BB962C8B-B14F-4D97-AF65-F5344CB8AC3E}">
        <p14:creationId xmlns:p14="http://schemas.microsoft.com/office/powerpoint/2010/main" val="5687816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5ADA1F-AAB6-5760-82B0-7E57B189361A}"/>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35F3ACFB-2592-2FF5-4E6D-BD1929EEAF2A}"/>
              </a:ext>
            </a:extLst>
          </p:cNvPr>
          <p:cNvSpPr/>
          <p:nvPr/>
        </p:nvSpPr>
        <p:spPr>
          <a:xfrm>
            <a:off x="0" y="0"/>
            <a:ext cx="4434348" cy="6858000"/>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IN"/>
          </a:p>
        </p:txBody>
      </p:sp>
      <p:sp>
        <p:nvSpPr>
          <p:cNvPr id="5" name="Rectangle: Rounded Corners 4">
            <a:extLst>
              <a:ext uri="{FF2B5EF4-FFF2-40B4-BE49-F238E27FC236}">
                <a16:creationId xmlns:a16="http://schemas.microsoft.com/office/drawing/2014/main" id="{03D629E4-E684-D520-3161-BA631016D62F}"/>
              </a:ext>
            </a:extLst>
          </p:cNvPr>
          <p:cNvSpPr/>
          <p:nvPr/>
        </p:nvSpPr>
        <p:spPr>
          <a:xfrm>
            <a:off x="757082" y="78658"/>
            <a:ext cx="11434917" cy="6685936"/>
          </a:xfrm>
          <a:prstGeom prst="roundRect">
            <a:avLst/>
          </a:prstGeom>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IN"/>
          </a:p>
        </p:txBody>
      </p:sp>
      <p:pic>
        <p:nvPicPr>
          <p:cNvPr id="2" name="Picture 1" descr="extracted_4.png">
            <a:extLst>
              <a:ext uri="{FF2B5EF4-FFF2-40B4-BE49-F238E27FC236}">
                <a16:creationId xmlns:a16="http://schemas.microsoft.com/office/drawing/2014/main" id="{45A3840E-6C7C-98B4-59D9-8DAF10208E89}"/>
              </a:ext>
            </a:extLst>
          </p:cNvPr>
          <p:cNvPicPr>
            <a:picLocks noChangeAspect="1"/>
          </p:cNvPicPr>
          <p:nvPr/>
        </p:nvPicPr>
        <p:blipFill>
          <a:blip r:embed="rId2"/>
          <a:stretch>
            <a:fillRect/>
          </a:stretch>
        </p:blipFill>
        <p:spPr>
          <a:xfrm>
            <a:off x="1848462" y="863272"/>
            <a:ext cx="9252155" cy="5116707"/>
          </a:xfrm>
          <a:prstGeom prst="rect">
            <a:avLst/>
          </a:prstGeom>
        </p:spPr>
      </p:pic>
    </p:spTree>
    <p:extLst>
      <p:ext uri="{BB962C8B-B14F-4D97-AF65-F5344CB8AC3E}">
        <p14:creationId xmlns:p14="http://schemas.microsoft.com/office/powerpoint/2010/main" val="7632913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12F577-06D8-5DA2-FA8F-203D79A70E84}"/>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6A501F8D-789B-10AC-16D9-FD864C799CCE}"/>
              </a:ext>
            </a:extLst>
          </p:cNvPr>
          <p:cNvSpPr/>
          <p:nvPr/>
        </p:nvSpPr>
        <p:spPr>
          <a:xfrm>
            <a:off x="0" y="0"/>
            <a:ext cx="4434348" cy="6858000"/>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IN"/>
          </a:p>
        </p:txBody>
      </p:sp>
      <p:sp>
        <p:nvSpPr>
          <p:cNvPr id="5" name="Rectangle: Rounded Corners 4">
            <a:extLst>
              <a:ext uri="{FF2B5EF4-FFF2-40B4-BE49-F238E27FC236}">
                <a16:creationId xmlns:a16="http://schemas.microsoft.com/office/drawing/2014/main" id="{8335F974-3117-DDD3-7969-B37C375EF81D}"/>
              </a:ext>
            </a:extLst>
          </p:cNvPr>
          <p:cNvSpPr/>
          <p:nvPr/>
        </p:nvSpPr>
        <p:spPr>
          <a:xfrm>
            <a:off x="757082" y="78658"/>
            <a:ext cx="11434917" cy="6685936"/>
          </a:xfrm>
          <a:prstGeom prst="roundRect">
            <a:avLst/>
          </a:prstGeom>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IN"/>
          </a:p>
        </p:txBody>
      </p:sp>
      <p:pic>
        <p:nvPicPr>
          <p:cNvPr id="2" name="Picture 1" descr="extracted_5.png">
            <a:extLst>
              <a:ext uri="{FF2B5EF4-FFF2-40B4-BE49-F238E27FC236}">
                <a16:creationId xmlns:a16="http://schemas.microsoft.com/office/drawing/2014/main" id="{190CEBE2-95D9-2DB4-EFD3-38E038E23AAA}"/>
              </a:ext>
            </a:extLst>
          </p:cNvPr>
          <p:cNvPicPr>
            <a:picLocks noChangeAspect="1"/>
          </p:cNvPicPr>
          <p:nvPr/>
        </p:nvPicPr>
        <p:blipFill>
          <a:blip r:embed="rId2"/>
          <a:stretch>
            <a:fillRect/>
          </a:stretch>
        </p:blipFill>
        <p:spPr>
          <a:xfrm>
            <a:off x="1890139" y="1236898"/>
            <a:ext cx="9168802" cy="4369455"/>
          </a:xfrm>
          <a:prstGeom prst="rect">
            <a:avLst/>
          </a:prstGeom>
        </p:spPr>
      </p:pic>
    </p:spTree>
    <p:extLst>
      <p:ext uri="{BB962C8B-B14F-4D97-AF65-F5344CB8AC3E}">
        <p14:creationId xmlns:p14="http://schemas.microsoft.com/office/powerpoint/2010/main" val="15036670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58B838-362E-D1FA-8989-C3C204D2B481}"/>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FF730231-A724-FAC8-8DA1-3C65730C397D}"/>
              </a:ext>
            </a:extLst>
          </p:cNvPr>
          <p:cNvSpPr/>
          <p:nvPr/>
        </p:nvSpPr>
        <p:spPr>
          <a:xfrm>
            <a:off x="0" y="0"/>
            <a:ext cx="4434348" cy="6858000"/>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IN"/>
          </a:p>
        </p:txBody>
      </p:sp>
      <p:sp>
        <p:nvSpPr>
          <p:cNvPr id="5" name="Rectangle: Rounded Corners 4">
            <a:extLst>
              <a:ext uri="{FF2B5EF4-FFF2-40B4-BE49-F238E27FC236}">
                <a16:creationId xmlns:a16="http://schemas.microsoft.com/office/drawing/2014/main" id="{15C835E0-50F4-157D-1AF6-4A847625B350}"/>
              </a:ext>
            </a:extLst>
          </p:cNvPr>
          <p:cNvSpPr/>
          <p:nvPr/>
        </p:nvSpPr>
        <p:spPr>
          <a:xfrm>
            <a:off x="757082" y="78658"/>
            <a:ext cx="11434917" cy="6685936"/>
          </a:xfrm>
          <a:prstGeom prst="roundRect">
            <a:avLst/>
          </a:prstGeom>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IN"/>
          </a:p>
        </p:txBody>
      </p:sp>
      <p:pic>
        <p:nvPicPr>
          <p:cNvPr id="3" name="Picture 2" descr="extracted_7.png">
            <a:extLst>
              <a:ext uri="{FF2B5EF4-FFF2-40B4-BE49-F238E27FC236}">
                <a16:creationId xmlns:a16="http://schemas.microsoft.com/office/drawing/2014/main" id="{699794EC-4A02-F764-BCD7-2E2A39715A5A}"/>
              </a:ext>
            </a:extLst>
          </p:cNvPr>
          <p:cNvPicPr>
            <a:picLocks noChangeAspect="1"/>
          </p:cNvPicPr>
          <p:nvPr/>
        </p:nvPicPr>
        <p:blipFill>
          <a:blip r:embed="rId2"/>
          <a:stretch>
            <a:fillRect/>
          </a:stretch>
        </p:blipFill>
        <p:spPr>
          <a:xfrm>
            <a:off x="2794815" y="239761"/>
            <a:ext cx="7359446" cy="3189239"/>
          </a:xfrm>
          <a:prstGeom prst="rect">
            <a:avLst/>
          </a:prstGeom>
        </p:spPr>
      </p:pic>
      <p:pic>
        <p:nvPicPr>
          <p:cNvPr id="6" name="Picture 5" descr="extracted_8.png">
            <a:extLst>
              <a:ext uri="{FF2B5EF4-FFF2-40B4-BE49-F238E27FC236}">
                <a16:creationId xmlns:a16="http://schemas.microsoft.com/office/drawing/2014/main" id="{E734FBB0-0054-DCAA-B075-DB605ACC30BE}"/>
              </a:ext>
            </a:extLst>
          </p:cNvPr>
          <p:cNvPicPr>
            <a:picLocks noChangeAspect="1"/>
          </p:cNvPicPr>
          <p:nvPr/>
        </p:nvPicPr>
        <p:blipFill>
          <a:blip r:embed="rId3"/>
          <a:stretch>
            <a:fillRect/>
          </a:stretch>
        </p:blipFill>
        <p:spPr>
          <a:xfrm>
            <a:off x="1519080" y="3687097"/>
            <a:ext cx="9910917" cy="2791697"/>
          </a:xfrm>
          <a:prstGeom prst="rect">
            <a:avLst/>
          </a:prstGeom>
        </p:spPr>
      </p:pic>
    </p:spTree>
    <p:extLst>
      <p:ext uri="{BB962C8B-B14F-4D97-AF65-F5344CB8AC3E}">
        <p14:creationId xmlns:p14="http://schemas.microsoft.com/office/powerpoint/2010/main" val="32431094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5BC443-8C51-D72F-DD48-6F980ACF2307}"/>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CDEF1CE8-A5D0-BC56-A321-7B288CE92C55}"/>
              </a:ext>
            </a:extLst>
          </p:cNvPr>
          <p:cNvSpPr/>
          <p:nvPr/>
        </p:nvSpPr>
        <p:spPr>
          <a:xfrm>
            <a:off x="0" y="0"/>
            <a:ext cx="4434348" cy="6858000"/>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IN"/>
          </a:p>
        </p:txBody>
      </p:sp>
      <p:sp>
        <p:nvSpPr>
          <p:cNvPr id="5" name="Rectangle: Rounded Corners 4">
            <a:extLst>
              <a:ext uri="{FF2B5EF4-FFF2-40B4-BE49-F238E27FC236}">
                <a16:creationId xmlns:a16="http://schemas.microsoft.com/office/drawing/2014/main" id="{16972B90-6CA4-088F-E7EE-0F147979E875}"/>
              </a:ext>
            </a:extLst>
          </p:cNvPr>
          <p:cNvSpPr/>
          <p:nvPr/>
        </p:nvSpPr>
        <p:spPr>
          <a:xfrm>
            <a:off x="757082" y="78658"/>
            <a:ext cx="11434917" cy="6685936"/>
          </a:xfrm>
          <a:prstGeom prst="roundRect">
            <a:avLst/>
          </a:prstGeom>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IN"/>
          </a:p>
        </p:txBody>
      </p:sp>
      <p:pic>
        <p:nvPicPr>
          <p:cNvPr id="7" name="Picture 6" descr="extracted_6.png">
            <a:extLst>
              <a:ext uri="{FF2B5EF4-FFF2-40B4-BE49-F238E27FC236}">
                <a16:creationId xmlns:a16="http://schemas.microsoft.com/office/drawing/2014/main" id="{AA540D43-2EBC-1848-21F7-194F0A4C11E9}"/>
              </a:ext>
            </a:extLst>
          </p:cNvPr>
          <p:cNvPicPr>
            <a:picLocks noChangeAspect="1"/>
          </p:cNvPicPr>
          <p:nvPr/>
        </p:nvPicPr>
        <p:blipFill>
          <a:blip r:embed="rId2"/>
          <a:stretch>
            <a:fillRect/>
          </a:stretch>
        </p:blipFill>
        <p:spPr>
          <a:xfrm>
            <a:off x="3822288" y="3809292"/>
            <a:ext cx="4547423" cy="2449960"/>
          </a:xfrm>
          <a:prstGeom prst="rect">
            <a:avLst/>
          </a:prstGeom>
        </p:spPr>
      </p:pic>
      <p:pic>
        <p:nvPicPr>
          <p:cNvPr id="9" name="Picture 8">
            <a:extLst>
              <a:ext uri="{FF2B5EF4-FFF2-40B4-BE49-F238E27FC236}">
                <a16:creationId xmlns:a16="http://schemas.microsoft.com/office/drawing/2014/main" id="{2C77D6BB-F83F-941A-C6D5-C0213B2269A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12738" y="395772"/>
            <a:ext cx="5366524" cy="3096406"/>
          </a:xfrm>
          <a:prstGeom prst="rect">
            <a:avLst/>
          </a:prstGeom>
        </p:spPr>
      </p:pic>
    </p:spTree>
    <p:extLst>
      <p:ext uri="{BB962C8B-B14F-4D97-AF65-F5344CB8AC3E}">
        <p14:creationId xmlns:p14="http://schemas.microsoft.com/office/powerpoint/2010/main" val="25602967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EF2AAE-351C-EDAC-292B-50E20EA8BC86}"/>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4A64F794-F893-71A0-E21F-0B77DC0B0EBC}"/>
              </a:ext>
            </a:extLst>
          </p:cNvPr>
          <p:cNvSpPr/>
          <p:nvPr/>
        </p:nvSpPr>
        <p:spPr>
          <a:xfrm>
            <a:off x="0" y="0"/>
            <a:ext cx="4434348" cy="6858000"/>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IN"/>
          </a:p>
        </p:txBody>
      </p:sp>
      <p:sp>
        <p:nvSpPr>
          <p:cNvPr id="5" name="Rectangle: Rounded Corners 4">
            <a:extLst>
              <a:ext uri="{FF2B5EF4-FFF2-40B4-BE49-F238E27FC236}">
                <a16:creationId xmlns:a16="http://schemas.microsoft.com/office/drawing/2014/main" id="{B751BE34-7BE1-58C0-4DD0-731C9F3E40D7}"/>
              </a:ext>
            </a:extLst>
          </p:cNvPr>
          <p:cNvSpPr/>
          <p:nvPr/>
        </p:nvSpPr>
        <p:spPr>
          <a:xfrm>
            <a:off x="757082" y="78658"/>
            <a:ext cx="11434917" cy="6685936"/>
          </a:xfrm>
          <a:prstGeom prst="roundRect">
            <a:avLst/>
          </a:prstGeom>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IN"/>
          </a:p>
        </p:txBody>
      </p:sp>
      <p:pic>
        <p:nvPicPr>
          <p:cNvPr id="6" name="Picture 5">
            <a:extLst>
              <a:ext uri="{FF2B5EF4-FFF2-40B4-BE49-F238E27FC236}">
                <a16:creationId xmlns:a16="http://schemas.microsoft.com/office/drawing/2014/main" id="{386D1765-3EF3-3CAA-B66B-FB2DEAD6CF41}"/>
              </a:ext>
            </a:extLst>
          </p:cNvPr>
          <p:cNvPicPr>
            <a:picLocks noChangeAspect="1"/>
          </p:cNvPicPr>
          <p:nvPr/>
        </p:nvPicPr>
        <p:blipFill>
          <a:blip r:embed="rId2"/>
          <a:stretch>
            <a:fillRect/>
          </a:stretch>
        </p:blipFill>
        <p:spPr>
          <a:xfrm>
            <a:off x="1887793" y="535891"/>
            <a:ext cx="9163666" cy="5786218"/>
          </a:xfrm>
          <a:prstGeom prst="rect">
            <a:avLst/>
          </a:prstGeom>
        </p:spPr>
      </p:pic>
    </p:spTree>
    <p:extLst>
      <p:ext uri="{BB962C8B-B14F-4D97-AF65-F5344CB8AC3E}">
        <p14:creationId xmlns:p14="http://schemas.microsoft.com/office/powerpoint/2010/main" val="14239579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5DF3BF-2131-CE62-DEF7-92CD83343874}"/>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B9C451BF-BCDB-4A2B-3D22-5478D7E6B6B8}"/>
              </a:ext>
            </a:extLst>
          </p:cNvPr>
          <p:cNvSpPr/>
          <p:nvPr/>
        </p:nvSpPr>
        <p:spPr>
          <a:xfrm>
            <a:off x="0" y="0"/>
            <a:ext cx="4434348" cy="6858000"/>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IN"/>
          </a:p>
        </p:txBody>
      </p:sp>
      <p:sp>
        <p:nvSpPr>
          <p:cNvPr id="5" name="Rectangle: Rounded Corners 4">
            <a:extLst>
              <a:ext uri="{FF2B5EF4-FFF2-40B4-BE49-F238E27FC236}">
                <a16:creationId xmlns:a16="http://schemas.microsoft.com/office/drawing/2014/main" id="{1ED4528B-4468-2428-CC0E-9C08108F6398}"/>
              </a:ext>
            </a:extLst>
          </p:cNvPr>
          <p:cNvSpPr/>
          <p:nvPr/>
        </p:nvSpPr>
        <p:spPr>
          <a:xfrm>
            <a:off x="757082" y="78658"/>
            <a:ext cx="11434917" cy="6685936"/>
          </a:xfrm>
          <a:prstGeom prst="roundRect">
            <a:avLst/>
          </a:prstGeom>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IN"/>
          </a:p>
        </p:txBody>
      </p:sp>
      <p:pic>
        <p:nvPicPr>
          <p:cNvPr id="3" name="Picture 2">
            <a:extLst>
              <a:ext uri="{FF2B5EF4-FFF2-40B4-BE49-F238E27FC236}">
                <a16:creationId xmlns:a16="http://schemas.microsoft.com/office/drawing/2014/main" id="{C64C5C54-2528-5774-2556-E07B7289E931}"/>
              </a:ext>
            </a:extLst>
          </p:cNvPr>
          <p:cNvPicPr>
            <a:picLocks noChangeAspect="1"/>
          </p:cNvPicPr>
          <p:nvPr/>
        </p:nvPicPr>
        <p:blipFill>
          <a:blip r:embed="rId2"/>
          <a:stretch>
            <a:fillRect/>
          </a:stretch>
        </p:blipFill>
        <p:spPr>
          <a:xfrm>
            <a:off x="1675783" y="1299865"/>
            <a:ext cx="8840434" cy="4258269"/>
          </a:xfrm>
          <a:prstGeom prst="rect">
            <a:avLst/>
          </a:prstGeom>
        </p:spPr>
      </p:pic>
    </p:spTree>
    <p:extLst>
      <p:ext uri="{BB962C8B-B14F-4D97-AF65-F5344CB8AC3E}">
        <p14:creationId xmlns:p14="http://schemas.microsoft.com/office/powerpoint/2010/main" val="706773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D91487-463D-4013-E59C-DB5421BCDE40}"/>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0AA862EC-FD9E-516F-F768-A84A2152CBF4}"/>
              </a:ext>
            </a:extLst>
          </p:cNvPr>
          <p:cNvSpPr/>
          <p:nvPr/>
        </p:nvSpPr>
        <p:spPr>
          <a:xfrm>
            <a:off x="0" y="0"/>
            <a:ext cx="4434348" cy="6858000"/>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IN"/>
          </a:p>
        </p:txBody>
      </p:sp>
      <p:sp>
        <p:nvSpPr>
          <p:cNvPr id="5" name="Rectangle: Rounded Corners 4">
            <a:extLst>
              <a:ext uri="{FF2B5EF4-FFF2-40B4-BE49-F238E27FC236}">
                <a16:creationId xmlns:a16="http://schemas.microsoft.com/office/drawing/2014/main" id="{1E9C761B-F439-DB59-7CB4-67FE73031B53}"/>
              </a:ext>
            </a:extLst>
          </p:cNvPr>
          <p:cNvSpPr/>
          <p:nvPr/>
        </p:nvSpPr>
        <p:spPr>
          <a:xfrm>
            <a:off x="757082" y="78658"/>
            <a:ext cx="11434917" cy="6685936"/>
          </a:xfrm>
          <a:prstGeom prst="roundRect">
            <a:avLst/>
          </a:prstGeom>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IN"/>
          </a:p>
        </p:txBody>
      </p:sp>
      <p:pic>
        <p:nvPicPr>
          <p:cNvPr id="6" name="Picture 5">
            <a:extLst>
              <a:ext uri="{FF2B5EF4-FFF2-40B4-BE49-F238E27FC236}">
                <a16:creationId xmlns:a16="http://schemas.microsoft.com/office/drawing/2014/main" id="{E48D5754-77AF-1F1B-11B1-F23FEE5257B2}"/>
              </a:ext>
            </a:extLst>
          </p:cNvPr>
          <p:cNvPicPr>
            <a:picLocks noChangeAspect="1"/>
          </p:cNvPicPr>
          <p:nvPr/>
        </p:nvPicPr>
        <p:blipFill>
          <a:blip r:embed="rId2"/>
          <a:stretch>
            <a:fillRect/>
          </a:stretch>
        </p:blipFill>
        <p:spPr>
          <a:xfrm>
            <a:off x="1890557" y="865673"/>
            <a:ext cx="8875766" cy="4772691"/>
          </a:xfrm>
          <a:prstGeom prst="rect">
            <a:avLst/>
          </a:prstGeom>
        </p:spPr>
      </p:pic>
    </p:spTree>
    <p:extLst>
      <p:ext uri="{BB962C8B-B14F-4D97-AF65-F5344CB8AC3E}">
        <p14:creationId xmlns:p14="http://schemas.microsoft.com/office/powerpoint/2010/main" val="353903949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13AADF-0CF8-AD00-1FC8-83C3850721B9}"/>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3A35334A-EC20-F87C-8C51-0FB71632BF09}"/>
              </a:ext>
            </a:extLst>
          </p:cNvPr>
          <p:cNvSpPr/>
          <p:nvPr/>
        </p:nvSpPr>
        <p:spPr>
          <a:xfrm>
            <a:off x="0" y="0"/>
            <a:ext cx="4434348" cy="6858000"/>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IN"/>
          </a:p>
        </p:txBody>
      </p:sp>
      <p:sp>
        <p:nvSpPr>
          <p:cNvPr id="5" name="Rectangle: Rounded Corners 4">
            <a:extLst>
              <a:ext uri="{FF2B5EF4-FFF2-40B4-BE49-F238E27FC236}">
                <a16:creationId xmlns:a16="http://schemas.microsoft.com/office/drawing/2014/main" id="{7EA25B8A-6D21-1CC3-CD1D-4AD0DA408D2E}"/>
              </a:ext>
            </a:extLst>
          </p:cNvPr>
          <p:cNvSpPr/>
          <p:nvPr/>
        </p:nvSpPr>
        <p:spPr>
          <a:xfrm>
            <a:off x="757082" y="78658"/>
            <a:ext cx="11434917" cy="6685936"/>
          </a:xfrm>
          <a:prstGeom prst="roundRect">
            <a:avLst/>
          </a:prstGeom>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IN"/>
          </a:p>
        </p:txBody>
      </p:sp>
      <p:sp>
        <p:nvSpPr>
          <p:cNvPr id="3" name="TextBox 2">
            <a:extLst>
              <a:ext uri="{FF2B5EF4-FFF2-40B4-BE49-F238E27FC236}">
                <a16:creationId xmlns:a16="http://schemas.microsoft.com/office/drawing/2014/main" id="{F4EC5F54-F443-DD9B-444A-496F8AC82FE0}"/>
              </a:ext>
            </a:extLst>
          </p:cNvPr>
          <p:cNvSpPr txBox="1"/>
          <p:nvPr/>
        </p:nvSpPr>
        <p:spPr>
          <a:xfrm>
            <a:off x="1241321" y="415093"/>
            <a:ext cx="10783530" cy="5632311"/>
          </a:xfrm>
          <a:prstGeom prst="rect">
            <a:avLst/>
          </a:prstGeom>
          <a:noFill/>
        </p:spPr>
        <p:txBody>
          <a:bodyPr wrap="square">
            <a:spAutoFit/>
          </a:bodyPr>
          <a:lstStyle/>
          <a:p>
            <a:r>
              <a:rPr lang="en-US" sz="2000" b="1" dirty="0"/>
              <a:t>🔍 Key Insights</a:t>
            </a:r>
          </a:p>
          <a:p>
            <a:pPr>
              <a:buFont typeface="Arial" panose="020B0604020202020204" pitchFamily="34" charset="0"/>
              <a:buChar char="•"/>
            </a:pPr>
            <a:r>
              <a:rPr lang="en-US" sz="2000" b="1" dirty="0"/>
              <a:t> Spending Patterns:</a:t>
            </a:r>
            <a:r>
              <a:rPr lang="en-US" sz="2000" dirty="0"/>
              <a:t> Purchase amounts show variability and skewness, indicating the presence of high-value customers and revenue concentration among specific segments.</a:t>
            </a:r>
          </a:p>
          <a:p>
            <a:pPr>
              <a:buFont typeface="Arial" panose="020B0604020202020204" pitchFamily="34" charset="0"/>
              <a:buChar char="•"/>
            </a:pPr>
            <a:r>
              <a:rPr lang="en-US" sz="2000" b="1" dirty="0"/>
              <a:t> Outlier Detection:</a:t>
            </a:r>
            <a:r>
              <a:rPr lang="en-US" sz="2000" dirty="0"/>
              <a:t> Identification of high-spending customers using IQR highlights potential premium segments and VIP customer profiles.</a:t>
            </a:r>
          </a:p>
          <a:p>
            <a:pPr>
              <a:buFont typeface="Arial" panose="020B0604020202020204" pitchFamily="34" charset="0"/>
              <a:buChar char="•"/>
            </a:pPr>
            <a:r>
              <a:rPr lang="en-US" sz="2000" b="1" dirty="0"/>
              <a:t> Gender Analysis:</a:t>
            </a:r>
            <a:r>
              <a:rPr lang="en-US" sz="2000" dirty="0"/>
              <a:t> Statistical testing (independent t-test) indicates whether gender significantly impacts spending </a:t>
            </a:r>
            <a:r>
              <a:rPr lang="en-US" sz="2000" dirty="0" err="1"/>
              <a:t>behaviour</a:t>
            </a:r>
            <a:r>
              <a:rPr lang="en-US" sz="2000" dirty="0"/>
              <a:t>, supporting evidence-based segmentation rather than assumptions.</a:t>
            </a:r>
          </a:p>
          <a:p>
            <a:pPr>
              <a:buFont typeface="Arial" panose="020B0604020202020204" pitchFamily="34" charset="0"/>
              <a:buChar char="•"/>
            </a:pPr>
            <a:r>
              <a:rPr lang="en-US" sz="2000" b="1" dirty="0"/>
              <a:t> Age vs Spending Relationship:</a:t>
            </a:r>
            <a:r>
              <a:rPr lang="en-US" sz="2000" dirty="0"/>
              <a:t> Correlation and scatter analysis reveal the relationship between customer age and purchase value, supporting targeted demographic strategies.</a:t>
            </a:r>
          </a:p>
          <a:p>
            <a:pPr>
              <a:buFont typeface="Arial" panose="020B0604020202020204" pitchFamily="34" charset="0"/>
              <a:buChar char="•"/>
            </a:pPr>
            <a:r>
              <a:rPr lang="en-US" sz="2000" b="1" dirty="0"/>
              <a:t> Geographical Insights:</a:t>
            </a:r>
            <a:r>
              <a:rPr lang="en-US" sz="2000" dirty="0"/>
              <a:t> Location-based analysis of previous purchases identifies regions with higher customer engagement and repeat purchase </a:t>
            </a:r>
            <a:r>
              <a:rPr lang="en-US" sz="2000" dirty="0" err="1"/>
              <a:t>behaviour</a:t>
            </a:r>
            <a:r>
              <a:rPr lang="en-US" sz="2000" dirty="0"/>
              <a:t>.</a:t>
            </a:r>
          </a:p>
          <a:p>
            <a:pPr>
              <a:buFont typeface="Arial" panose="020B0604020202020204" pitchFamily="34" charset="0"/>
              <a:buChar char="•"/>
            </a:pPr>
            <a:r>
              <a:rPr lang="en-US" sz="2000" b="1" dirty="0"/>
              <a:t> Customer Loyalty:</a:t>
            </a:r>
            <a:r>
              <a:rPr lang="en-US" sz="2000" dirty="0"/>
              <a:t> Previous purchase patterns reveal strong indicators of retention potential and customer lifetime value (CLV).</a:t>
            </a:r>
          </a:p>
          <a:p>
            <a:pPr>
              <a:buFont typeface="Arial" panose="020B0604020202020204" pitchFamily="34" charset="0"/>
              <a:buChar char="•"/>
            </a:pPr>
            <a:r>
              <a:rPr lang="en-US" sz="2000" b="1" dirty="0"/>
              <a:t> Churn Risk Modelling:</a:t>
            </a:r>
            <a:r>
              <a:rPr lang="en-US" sz="2000" dirty="0"/>
              <a:t> A churn scoring model based on </a:t>
            </a:r>
            <a:r>
              <a:rPr lang="en-US" sz="2000" dirty="0" err="1"/>
              <a:t>behavioural</a:t>
            </a:r>
            <a:r>
              <a:rPr lang="en-US" sz="2000" dirty="0"/>
              <a:t> variables (frequency, subscription, engagement) classifies customers into churn-risk categories for proactive retention strategies.</a:t>
            </a:r>
          </a:p>
          <a:p>
            <a:pPr>
              <a:buFont typeface="Arial" panose="020B0604020202020204" pitchFamily="34" charset="0"/>
              <a:buChar char="•"/>
            </a:pPr>
            <a:r>
              <a:rPr lang="en-US" sz="2000" b="1" dirty="0"/>
              <a:t> Statistical Confidence:</a:t>
            </a:r>
            <a:r>
              <a:rPr lang="en-US" sz="2000" dirty="0"/>
              <a:t> Population mean estimation using confidence intervals provides reliable business forecasting for average customer spending.</a:t>
            </a:r>
          </a:p>
        </p:txBody>
      </p:sp>
    </p:spTree>
    <p:extLst>
      <p:ext uri="{BB962C8B-B14F-4D97-AF65-F5344CB8AC3E}">
        <p14:creationId xmlns:p14="http://schemas.microsoft.com/office/powerpoint/2010/main" val="51326631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33358B-EF30-82E7-595E-BAE25E4A23DD}"/>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D9054D6F-5611-3F12-6E89-989E1017E7E4}"/>
              </a:ext>
            </a:extLst>
          </p:cNvPr>
          <p:cNvSpPr/>
          <p:nvPr/>
        </p:nvSpPr>
        <p:spPr>
          <a:xfrm>
            <a:off x="0" y="0"/>
            <a:ext cx="4434348" cy="6858000"/>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IN"/>
          </a:p>
        </p:txBody>
      </p:sp>
      <p:sp>
        <p:nvSpPr>
          <p:cNvPr id="5" name="Rectangle: Rounded Corners 4">
            <a:extLst>
              <a:ext uri="{FF2B5EF4-FFF2-40B4-BE49-F238E27FC236}">
                <a16:creationId xmlns:a16="http://schemas.microsoft.com/office/drawing/2014/main" id="{A0E6F9B1-4D24-6A86-95D8-A3E31D9ACB45}"/>
              </a:ext>
            </a:extLst>
          </p:cNvPr>
          <p:cNvSpPr/>
          <p:nvPr/>
        </p:nvSpPr>
        <p:spPr>
          <a:xfrm>
            <a:off x="757082" y="78658"/>
            <a:ext cx="11434917" cy="6685936"/>
          </a:xfrm>
          <a:prstGeom prst="roundRect">
            <a:avLst/>
          </a:prstGeom>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IN"/>
          </a:p>
        </p:txBody>
      </p:sp>
      <p:sp>
        <p:nvSpPr>
          <p:cNvPr id="3" name="TextBox 2">
            <a:extLst>
              <a:ext uri="{FF2B5EF4-FFF2-40B4-BE49-F238E27FC236}">
                <a16:creationId xmlns:a16="http://schemas.microsoft.com/office/drawing/2014/main" id="{FC74B972-E592-4A9B-3989-4962EA8972CF}"/>
              </a:ext>
            </a:extLst>
          </p:cNvPr>
          <p:cNvSpPr txBox="1"/>
          <p:nvPr/>
        </p:nvSpPr>
        <p:spPr>
          <a:xfrm>
            <a:off x="1236406" y="533051"/>
            <a:ext cx="10051028" cy="5632311"/>
          </a:xfrm>
          <a:prstGeom prst="rect">
            <a:avLst/>
          </a:prstGeom>
          <a:noFill/>
        </p:spPr>
        <p:txBody>
          <a:bodyPr wrap="square">
            <a:spAutoFit/>
          </a:bodyPr>
          <a:lstStyle/>
          <a:p>
            <a:pPr>
              <a:buNone/>
            </a:pPr>
            <a:r>
              <a:rPr lang="en-US" sz="2000" b="1" dirty="0"/>
              <a:t>📈 Business Impact</a:t>
            </a:r>
          </a:p>
          <a:p>
            <a:pPr>
              <a:buNone/>
            </a:pPr>
            <a:r>
              <a:rPr lang="en-US" sz="2000" dirty="0"/>
              <a:t>This analysis enables the </a:t>
            </a:r>
            <a:r>
              <a:rPr lang="en-US" sz="2000" dirty="0" err="1"/>
              <a:t>organisation</a:t>
            </a:r>
            <a:r>
              <a:rPr lang="en-US" sz="2000" dirty="0"/>
              <a:t> to:</a:t>
            </a:r>
          </a:p>
          <a:p>
            <a:pPr>
              <a:buFont typeface="Arial" panose="020B0604020202020204" pitchFamily="34" charset="0"/>
              <a:buChar char="•"/>
            </a:pPr>
            <a:r>
              <a:rPr lang="en-US" sz="2000" dirty="0"/>
              <a:t> Identify </a:t>
            </a:r>
            <a:r>
              <a:rPr lang="en-US" sz="2000" b="1" dirty="0"/>
              <a:t>high-value customer segments</a:t>
            </a:r>
            <a:r>
              <a:rPr lang="en-US" sz="2000" dirty="0"/>
              <a:t> for premium targeting</a:t>
            </a:r>
          </a:p>
          <a:p>
            <a:pPr>
              <a:buFont typeface="Arial" panose="020B0604020202020204" pitchFamily="34" charset="0"/>
              <a:buChar char="•"/>
            </a:pPr>
            <a:r>
              <a:rPr lang="en-US" sz="2000" dirty="0"/>
              <a:t> Detect </a:t>
            </a:r>
            <a:r>
              <a:rPr lang="en-US" sz="2000" b="1" dirty="0"/>
              <a:t>churn-prone customers</a:t>
            </a:r>
            <a:r>
              <a:rPr lang="en-US" sz="2000" dirty="0"/>
              <a:t> for retention campaigns</a:t>
            </a:r>
          </a:p>
          <a:p>
            <a:pPr>
              <a:buFont typeface="Arial" panose="020B0604020202020204" pitchFamily="34" charset="0"/>
              <a:buChar char="•"/>
            </a:pPr>
            <a:r>
              <a:rPr lang="en-US" sz="2000" dirty="0"/>
              <a:t> </a:t>
            </a:r>
            <a:r>
              <a:rPr lang="en-US" sz="2000" dirty="0" err="1"/>
              <a:t>Optimise</a:t>
            </a:r>
            <a:r>
              <a:rPr lang="en-US" sz="2000" dirty="0"/>
              <a:t> </a:t>
            </a:r>
            <a:r>
              <a:rPr lang="en-US" sz="2000" b="1" dirty="0"/>
              <a:t>marketing segmentation strategies</a:t>
            </a:r>
            <a:endParaRPr lang="en-US" sz="2000" dirty="0"/>
          </a:p>
          <a:p>
            <a:pPr>
              <a:buFont typeface="Arial" panose="020B0604020202020204" pitchFamily="34" charset="0"/>
              <a:buChar char="•"/>
            </a:pPr>
            <a:r>
              <a:rPr lang="en-US" sz="2000" dirty="0"/>
              <a:t> Improve </a:t>
            </a:r>
            <a:r>
              <a:rPr lang="en-US" sz="2000" b="1" dirty="0"/>
              <a:t>customer lifetime value (CLV)</a:t>
            </a:r>
            <a:endParaRPr lang="en-US" sz="2000" dirty="0"/>
          </a:p>
          <a:p>
            <a:pPr>
              <a:buFont typeface="Arial" panose="020B0604020202020204" pitchFamily="34" charset="0"/>
              <a:buChar char="•"/>
            </a:pPr>
            <a:r>
              <a:rPr lang="en-US" sz="2000" dirty="0"/>
              <a:t> Support </a:t>
            </a:r>
            <a:r>
              <a:rPr lang="en-US" sz="2000" b="1" dirty="0"/>
              <a:t>data-driven decision making</a:t>
            </a:r>
            <a:endParaRPr lang="en-US" sz="2000" dirty="0"/>
          </a:p>
          <a:p>
            <a:pPr>
              <a:buFont typeface="Arial" panose="020B0604020202020204" pitchFamily="34" charset="0"/>
              <a:buChar char="•"/>
            </a:pPr>
            <a:r>
              <a:rPr lang="en-US" sz="2000" dirty="0"/>
              <a:t> Enhance </a:t>
            </a:r>
            <a:r>
              <a:rPr lang="en-US" sz="2000" b="1" dirty="0"/>
              <a:t>revenue forecasting accuracy</a:t>
            </a:r>
            <a:endParaRPr lang="en-US" sz="2000" dirty="0"/>
          </a:p>
          <a:p>
            <a:pPr>
              <a:buFont typeface="Arial" panose="020B0604020202020204" pitchFamily="34" charset="0"/>
              <a:buChar char="•"/>
            </a:pPr>
            <a:r>
              <a:rPr lang="en-US" sz="2000" dirty="0"/>
              <a:t> Strengthen </a:t>
            </a:r>
            <a:r>
              <a:rPr lang="en-US" sz="2000" b="1" dirty="0"/>
              <a:t>customer engagement strategies</a:t>
            </a:r>
            <a:endParaRPr lang="en-US" sz="2000" dirty="0"/>
          </a:p>
          <a:p>
            <a:pPr>
              <a:buFont typeface="Arial" panose="020B0604020202020204" pitchFamily="34" charset="0"/>
              <a:buChar char="•"/>
            </a:pPr>
            <a:r>
              <a:rPr lang="en-US" sz="2000" dirty="0"/>
              <a:t> Enable </a:t>
            </a:r>
            <a:r>
              <a:rPr lang="en-US" sz="2000" b="1" dirty="0"/>
              <a:t>risk-based customer </a:t>
            </a:r>
            <a:r>
              <a:rPr lang="en-US" sz="2000" b="1" dirty="0" err="1"/>
              <a:t>prioritisation</a:t>
            </a:r>
            <a:endParaRPr lang="en-US" sz="2000" b="1" dirty="0"/>
          </a:p>
          <a:p>
            <a:endParaRPr lang="en-US" sz="2000" b="1" dirty="0"/>
          </a:p>
          <a:p>
            <a:r>
              <a:rPr lang="en-US" sz="2000" b="1" dirty="0"/>
              <a:t>🎯 Strategic Recommendations</a:t>
            </a:r>
          </a:p>
          <a:p>
            <a:r>
              <a:rPr lang="en-US" sz="2000" dirty="0"/>
              <a:t>Focus retention strategies on </a:t>
            </a:r>
            <a:r>
              <a:rPr lang="en-US" sz="2000" b="1" dirty="0"/>
              <a:t>high churn-risk segments</a:t>
            </a:r>
            <a:r>
              <a:rPr lang="en-US" sz="2000" dirty="0"/>
              <a:t> identified by churn scoring.</a:t>
            </a:r>
          </a:p>
          <a:p>
            <a:r>
              <a:rPr lang="en-US" sz="2000" dirty="0"/>
              <a:t>Build loyalty programs for </a:t>
            </a:r>
            <a:r>
              <a:rPr lang="en-US" sz="2000" b="1" dirty="0"/>
              <a:t>high-value outlier customers</a:t>
            </a:r>
            <a:r>
              <a:rPr lang="en-US" sz="2000" dirty="0"/>
              <a:t> to </a:t>
            </a:r>
            <a:r>
              <a:rPr lang="en-US" sz="2000" dirty="0" err="1"/>
              <a:t>maximise</a:t>
            </a:r>
            <a:r>
              <a:rPr lang="en-US" sz="2000" dirty="0"/>
              <a:t> CLV.</a:t>
            </a:r>
          </a:p>
          <a:p>
            <a:r>
              <a:rPr lang="en-US" sz="2000" dirty="0"/>
              <a:t>Use </a:t>
            </a:r>
            <a:r>
              <a:rPr lang="en-US" sz="2000" dirty="0" err="1"/>
              <a:t>behavioural</a:t>
            </a:r>
            <a:r>
              <a:rPr lang="en-US" sz="2000" dirty="0"/>
              <a:t> segmentation instead of demographic assumptions for marketing.</a:t>
            </a:r>
          </a:p>
          <a:p>
            <a:r>
              <a:rPr lang="en-US" sz="2000" dirty="0" err="1"/>
              <a:t>Prioritise</a:t>
            </a:r>
            <a:r>
              <a:rPr lang="en-US" sz="2000" dirty="0"/>
              <a:t> </a:t>
            </a:r>
            <a:r>
              <a:rPr lang="en-US" sz="2000" b="1" dirty="0"/>
              <a:t>high-performing locations</a:t>
            </a:r>
            <a:r>
              <a:rPr lang="en-US" sz="2000" dirty="0"/>
              <a:t> for regional campaign investment.</a:t>
            </a:r>
          </a:p>
          <a:p>
            <a:r>
              <a:rPr lang="en-US" sz="2000" dirty="0"/>
              <a:t>Apply predictive scoring models for </a:t>
            </a:r>
            <a:r>
              <a:rPr lang="en-US" sz="2000" b="1" dirty="0"/>
              <a:t>early churn detection</a:t>
            </a:r>
            <a:r>
              <a:rPr lang="en-US" sz="2000" dirty="0"/>
              <a:t>.</a:t>
            </a:r>
          </a:p>
          <a:p>
            <a:r>
              <a:rPr lang="en-US" sz="2000" dirty="0"/>
              <a:t>Design </a:t>
            </a:r>
            <a:r>
              <a:rPr lang="en-US" sz="2000" b="1" dirty="0" err="1"/>
              <a:t>personalised</a:t>
            </a:r>
            <a:r>
              <a:rPr lang="en-US" sz="2000" b="1" dirty="0"/>
              <a:t> engagement strategies</a:t>
            </a:r>
            <a:r>
              <a:rPr lang="en-US" sz="2000" dirty="0"/>
              <a:t> using previous purchase patterns.</a:t>
            </a:r>
          </a:p>
        </p:txBody>
      </p:sp>
    </p:spTree>
    <p:extLst>
      <p:ext uri="{BB962C8B-B14F-4D97-AF65-F5344CB8AC3E}">
        <p14:creationId xmlns:p14="http://schemas.microsoft.com/office/powerpoint/2010/main" val="10647228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7D7C67-6B82-70EB-EC22-6C97618F75F9}"/>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CA223FDD-11AD-05E2-2773-4D852AAB2DF2}"/>
              </a:ext>
            </a:extLst>
          </p:cNvPr>
          <p:cNvSpPr/>
          <p:nvPr/>
        </p:nvSpPr>
        <p:spPr>
          <a:xfrm>
            <a:off x="0" y="0"/>
            <a:ext cx="4434348" cy="6858000"/>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IN"/>
          </a:p>
        </p:txBody>
      </p:sp>
      <p:sp>
        <p:nvSpPr>
          <p:cNvPr id="5" name="Rectangle: Rounded Corners 4">
            <a:extLst>
              <a:ext uri="{FF2B5EF4-FFF2-40B4-BE49-F238E27FC236}">
                <a16:creationId xmlns:a16="http://schemas.microsoft.com/office/drawing/2014/main" id="{80B9D7BE-31F1-3941-409A-CF6F39F93518}"/>
              </a:ext>
            </a:extLst>
          </p:cNvPr>
          <p:cNvSpPr/>
          <p:nvPr/>
        </p:nvSpPr>
        <p:spPr>
          <a:xfrm>
            <a:off x="757082" y="78658"/>
            <a:ext cx="11434917" cy="6685936"/>
          </a:xfrm>
          <a:prstGeom prst="roundRect">
            <a:avLst/>
          </a:prstGeom>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IN"/>
          </a:p>
        </p:txBody>
      </p:sp>
      <p:sp>
        <p:nvSpPr>
          <p:cNvPr id="3" name="TextBox 2">
            <a:extLst>
              <a:ext uri="{FF2B5EF4-FFF2-40B4-BE49-F238E27FC236}">
                <a16:creationId xmlns:a16="http://schemas.microsoft.com/office/drawing/2014/main" id="{CFC608C4-56CC-9B15-4FE2-5AB2C6F4B5FB}"/>
              </a:ext>
            </a:extLst>
          </p:cNvPr>
          <p:cNvSpPr txBox="1"/>
          <p:nvPr/>
        </p:nvSpPr>
        <p:spPr>
          <a:xfrm>
            <a:off x="1327353" y="613693"/>
            <a:ext cx="11120286" cy="5262979"/>
          </a:xfrm>
          <a:prstGeom prst="rect">
            <a:avLst/>
          </a:prstGeom>
          <a:noFill/>
        </p:spPr>
        <p:txBody>
          <a:bodyPr wrap="square">
            <a:spAutoFit/>
          </a:bodyPr>
          <a:lstStyle/>
          <a:p>
            <a:pPr>
              <a:buNone/>
            </a:pPr>
            <a:r>
              <a:rPr lang="en-IN" sz="2400" b="1" dirty="0"/>
              <a:t>🛠 Tools &amp; Technologies</a:t>
            </a:r>
          </a:p>
          <a:p>
            <a:pPr>
              <a:buFont typeface="Arial" panose="020B0604020202020204" pitchFamily="34" charset="0"/>
              <a:buChar char="•"/>
            </a:pPr>
            <a:r>
              <a:rPr lang="en-IN" sz="2400" dirty="0"/>
              <a:t> Python</a:t>
            </a:r>
          </a:p>
          <a:p>
            <a:pPr>
              <a:buFont typeface="Arial" panose="020B0604020202020204" pitchFamily="34" charset="0"/>
              <a:buChar char="•"/>
            </a:pPr>
            <a:r>
              <a:rPr lang="en-IN" sz="2400" dirty="0"/>
              <a:t> Pandas, NumPy</a:t>
            </a:r>
          </a:p>
          <a:p>
            <a:pPr>
              <a:buFont typeface="Arial" panose="020B0604020202020204" pitchFamily="34" charset="0"/>
              <a:buChar char="•"/>
            </a:pPr>
            <a:r>
              <a:rPr lang="en-IN" sz="2400" dirty="0"/>
              <a:t> Matplotlib, Seaborn</a:t>
            </a:r>
          </a:p>
          <a:p>
            <a:pPr>
              <a:buFont typeface="Arial" panose="020B0604020202020204" pitchFamily="34" charset="0"/>
              <a:buChar char="•"/>
            </a:pPr>
            <a:r>
              <a:rPr lang="en-IN" sz="2400" dirty="0"/>
              <a:t> </a:t>
            </a:r>
            <a:r>
              <a:rPr lang="en-IN" sz="2400" dirty="0" err="1"/>
              <a:t>Plotly</a:t>
            </a:r>
            <a:endParaRPr lang="en-IN" sz="2400" dirty="0"/>
          </a:p>
          <a:p>
            <a:pPr>
              <a:buFont typeface="Arial" panose="020B0604020202020204" pitchFamily="34" charset="0"/>
              <a:buChar char="•"/>
            </a:pPr>
            <a:r>
              <a:rPr lang="en-IN" sz="2400" dirty="0"/>
              <a:t> SciPy (Statistical Testing)</a:t>
            </a:r>
          </a:p>
          <a:p>
            <a:pPr>
              <a:buFont typeface="Arial" panose="020B0604020202020204" pitchFamily="34" charset="0"/>
              <a:buChar char="•"/>
            </a:pPr>
            <a:r>
              <a:rPr lang="en-IN" sz="2400" dirty="0"/>
              <a:t> </a:t>
            </a:r>
            <a:r>
              <a:rPr lang="en-IN" sz="2400" dirty="0" err="1"/>
              <a:t>Jupyter</a:t>
            </a:r>
            <a:r>
              <a:rPr lang="en-IN" sz="2400" dirty="0"/>
              <a:t> Notebook</a:t>
            </a:r>
          </a:p>
          <a:p>
            <a:endParaRPr lang="en-IN" sz="2400" dirty="0"/>
          </a:p>
          <a:p>
            <a:r>
              <a:rPr lang="en-US" sz="2400" b="1" dirty="0"/>
              <a:t>🧠 Business Value Statement</a:t>
            </a:r>
          </a:p>
          <a:p>
            <a:r>
              <a:rPr lang="en-US" sz="2400" dirty="0"/>
              <a:t>This project transforms raw customer data into actionable business intelligence by identifying revenue drivers, customer risk factors, and growth opportunities, enabling strategic decision-making, targeted marketing, and long-term customer value </a:t>
            </a:r>
            <a:r>
              <a:rPr lang="en-US" sz="2400" dirty="0" err="1"/>
              <a:t>optimisation</a:t>
            </a:r>
            <a:r>
              <a:rPr lang="en-US" sz="2400" dirty="0"/>
              <a:t>.</a:t>
            </a:r>
          </a:p>
          <a:p>
            <a:endParaRPr lang="en-IN" sz="2400" dirty="0"/>
          </a:p>
        </p:txBody>
      </p:sp>
    </p:spTree>
    <p:extLst>
      <p:ext uri="{BB962C8B-B14F-4D97-AF65-F5344CB8AC3E}">
        <p14:creationId xmlns:p14="http://schemas.microsoft.com/office/powerpoint/2010/main" val="290986217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9F5218-107C-AAFA-5964-AE7FBAD40743}"/>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B8782CE1-9341-FC76-9652-8BB0D2EEC7FE}"/>
              </a:ext>
            </a:extLst>
          </p:cNvPr>
          <p:cNvSpPr/>
          <p:nvPr/>
        </p:nvSpPr>
        <p:spPr>
          <a:xfrm>
            <a:off x="0" y="0"/>
            <a:ext cx="4434348" cy="6858000"/>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IN"/>
          </a:p>
        </p:txBody>
      </p:sp>
      <p:sp>
        <p:nvSpPr>
          <p:cNvPr id="5" name="Rectangle: Rounded Corners 4">
            <a:extLst>
              <a:ext uri="{FF2B5EF4-FFF2-40B4-BE49-F238E27FC236}">
                <a16:creationId xmlns:a16="http://schemas.microsoft.com/office/drawing/2014/main" id="{78E821F8-01C0-9659-8E8A-CB735B2CAB72}"/>
              </a:ext>
            </a:extLst>
          </p:cNvPr>
          <p:cNvSpPr/>
          <p:nvPr/>
        </p:nvSpPr>
        <p:spPr>
          <a:xfrm>
            <a:off x="757082" y="78658"/>
            <a:ext cx="11434917" cy="6685936"/>
          </a:xfrm>
          <a:prstGeom prst="roundRect">
            <a:avLst/>
          </a:prstGeom>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IN"/>
          </a:p>
        </p:txBody>
      </p:sp>
      <p:sp>
        <p:nvSpPr>
          <p:cNvPr id="3" name="TextBox 2">
            <a:extLst>
              <a:ext uri="{FF2B5EF4-FFF2-40B4-BE49-F238E27FC236}">
                <a16:creationId xmlns:a16="http://schemas.microsoft.com/office/drawing/2014/main" id="{F14719ED-9A41-1707-F2FD-58E8E34FB39F}"/>
              </a:ext>
            </a:extLst>
          </p:cNvPr>
          <p:cNvSpPr txBox="1"/>
          <p:nvPr/>
        </p:nvSpPr>
        <p:spPr>
          <a:xfrm>
            <a:off x="2079519" y="2363835"/>
            <a:ext cx="8790041" cy="1200329"/>
          </a:xfrm>
          <a:prstGeom prst="rect">
            <a:avLst/>
          </a:prstGeom>
          <a:noFill/>
        </p:spPr>
        <p:txBody>
          <a:bodyPr wrap="square">
            <a:spAutoFit/>
          </a:bodyPr>
          <a:lstStyle/>
          <a:p>
            <a:pPr algn="ctr">
              <a:buNone/>
            </a:pPr>
            <a:r>
              <a:rPr lang="en-IN" sz="2400" b="1" dirty="0"/>
              <a:t>THANK YOU.</a:t>
            </a:r>
          </a:p>
          <a:p>
            <a:pPr algn="ctr">
              <a:buNone/>
            </a:pPr>
            <a:r>
              <a:rPr lang="en-IN" sz="2400" b="1" dirty="0"/>
              <a:t>Author – Soumi Mukherjee</a:t>
            </a:r>
          </a:p>
          <a:p>
            <a:pPr algn="ctr">
              <a:buNone/>
            </a:pPr>
            <a:r>
              <a:rPr lang="en-IN" sz="2400" b="1" dirty="0"/>
              <a:t>LinkedIn - </a:t>
            </a:r>
            <a:r>
              <a:rPr lang="en-IN" dirty="0"/>
              <a:t>www.linkedin.com/in/soumimukherjeeofficial</a:t>
            </a:r>
            <a:endParaRPr lang="en-US" sz="2400" dirty="0"/>
          </a:p>
        </p:txBody>
      </p:sp>
    </p:spTree>
    <p:extLst>
      <p:ext uri="{BB962C8B-B14F-4D97-AF65-F5344CB8AC3E}">
        <p14:creationId xmlns:p14="http://schemas.microsoft.com/office/powerpoint/2010/main" val="209735629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77</TotalTime>
  <Words>594</Words>
  <Application>Microsoft Office PowerPoint</Application>
  <PresentationFormat>Widescreen</PresentationFormat>
  <Paragraphs>62</Paragraphs>
  <Slides>18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Arial</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Soumi Mukherjee</dc:creator>
  <cp:lastModifiedBy>Soumi Mukherjee</cp:lastModifiedBy>
  <cp:revision>2</cp:revision>
  <dcterms:created xsi:type="dcterms:W3CDTF">2026-02-07T20:04:23Z</dcterms:created>
  <dcterms:modified xsi:type="dcterms:W3CDTF">2026-02-09T06:15:35Z</dcterms:modified>
</cp:coreProperties>
</file>